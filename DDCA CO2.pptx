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7"/>
  </p:notesMasterIdLst>
  <p:sldIdLst>
    <p:sldId id="256" r:id="rId3"/>
    <p:sldId id="257" r:id="rId4"/>
    <p:sldId id="258" r:id="rId5"/>
    <p:sldId id="259" r:id="rId6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94EAA-4E33-41A9-A198-4E7330BF7FF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83F493-CB60-4F63-871F-8573F69388F9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C83F493-CB60-4F63-871F-8573F69388F9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with Pic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6789" y="-1"/>
            <a:ext cx="12192001" cy="6858000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0" y="-1"/>
            <a:ext cx="6096000" cy="6857999"/>
          </a:xfrm>
          <a:gradFill>
            <a:gsLst>
              <a:gs pos="86000">
                <a:schemeClr val="accent4">
                  <a:lumMod val="50000"/>
                  <a:alpha val="95000"/>
                </a:schemeClr>
              </a:gs>
              <a:gs pos="100000">
                <a:schemeClr val="bg2">
                  <a:alpha val="90000"/>
                </a:schemeClr>
              </a:gs>
              <a:gs pos="42000">
                <a:srgbClr val="161824">
                  <a:alpha val="20000"/>
                </a:srgbClr>
              </a:gs>
              <a:gs pos="18000">
                <a:schemeClr val="bg2">
                  <a:lumMod val="90000"/>
                  <a:lumOff val="10000"/>
                  <a:alpha val="0"/>
                </a:schemeClr>
              </a:gs>
            </a:gsLst>
            <a:lin ang="11400000" scaled="0"/>
          </a:gradFill>
        </p:spPr>
        <p:txBody>
          <a:bodyPr lIns="365760" tIns="822960" rIns="914400" bIns="2286000"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Subtitle 2"/>
          <p:cNvSpPr>
            <a:spLocks noGrp="1"/>
          </p:cNvSpPr>
          <p:nvPr>
            <p:ph type="subTitle" idx="1"/>
          </p:nvPr>
        </p:nvSpPr>
        <p:spPr>
          <a:xfrm>
            <a:off x="0" y="2401889"/>
            <a:ext cx="6096000" cy="4456112"/>
          </a:xfrm>
          <a:gradFill>
            <a:gsLst>
              <a:gs pos="35000">
                <a:schemeClr val="bg2">
                  <a:alpha val="32000"/>
                </a:schemeClr>
              </a:gs>
              <a:gs pos="56000">
                <a:schemeClr val="accent6">
                  <a:alpha val="0"/>
                </a:schemeClr>
              </a:gs>
              <a:gs pos="8000">
                <a:schemeClr val="bg2"/>
              </a:gs>
              <a:gs pos="22000">
                <a:schemeClr val="bg2">
                  <a:alpha val="67000"/>
                </a:schemeClr>
              </a:gs>
            </a:gsLst>
            <a:path path="circle">
              <a:fillToRect t="100000" r="100000"/>
            </a:path>
          </a:gradFill>
        </p:spPr>
        <p:txBody>
          <a:bodyPr vert="horz" lIns="393192" tIns="457200" rIns="27432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722282"/>
            <a:ext cx="9830017" cy="731520"/>
          </a:xfrm>
        </p:spPr>
        <p:txBody>
          <a:bodyPr anchor="b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01752" y="2011680"/>
            <a:ext cx="11402568" cy="438912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/>
          <p:cNvCxnSpPr/>
          <p:nvPr/>
        </p:nvCxnSpPr>
        <p:spPr>
          <a:xfrm flipH="1">
            <a:off x="394716" y="1704836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/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74320" y="1133214"/>
            <a:ext cx="11631478" cy="1825674"/>
          </a:xfrm>
        </p:spPr>
        <p:txBody>
          <a:bodyPr anchor="t"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" name="Subtitle 2"/>
          <p:cNvSpPr>
            <a:spLocks noGrp="1"/>
          </p:cNvSpPr>
          <p:nvPr>
            <p:ph type="subTitle" idx="1"/>
          </p:nvPr>
        </p:nvSpPr>
        <p:spPr>
          <a:xfrm>
            <a:off x="301751" y="5351226"/>
            <a:ext cx="7235954" cy="771276"/>
          </a:xfrm>
          <a:noFill/>
        </p:spPr>
        <p:txBody>
          <a:bodyPr vert="horz" lIns="91440" tIns="45720" rIns="91440" bIns="45720" rtlCol="0" anchor="t">
            <a:noAutofit/>
          </a:bodyPr>
          <a:lstStyle>
            <a:lvl1pPr marL="0" indent="0">
              <a:buNone/>
              <a:defRPr lang="en-US" sz="18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 rot="10800000">
            <a:off x="0" y="3432121"/>
            <a:ext cx="12192000" cy="1825033"/>
          </a:xfrm>
          <a:prstGeom prst="rect">
            <a:avLst/>
          </a:prstGeom>
          <a:gradFill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 rot="16200000" flipH="1">
            <a:off x="5938634" y="-996853"/>
            <a:ext cx="1825034" cy="10681699"/>
          </a:xfrm>
          <a:prstGeom prst="rect">
            <a:avLst/>
          </a:prstGeom>
          <a:gradFill>
            <a:gsLst>
              <a:gs pos="56000">
                <a:schemeClr val="bg1">
                  <a:alpha val="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5400000" flipH="1" flipV="1">
            <a:off x="-367222" y="367225"/>
            <a:ext cx="6866356" cy="6131909"/>
          </a:xfrm>
          <a:prstGeom prst="rect">
            <a:avLst/>
          </a:prstGeom>
          <a:gradFill>
            <a:gsLst>
              <a:gs pos="13000">
                <a:schemeClr val="accent2"/>
              </a:gs>
              <a:gs pos="60000">
                <a:schemeClr val="bg2">
                  <a:alpha val="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 rot="5400000" flipV="1">
            <a:off x="-1977949" y="2307330"/>
            <a:ext cx="6528619" cy="257271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42000">
                <a:schemeClr val="bg2"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 rot="10800000">
            <a:off x="1" y="4216109"/>
            <a:ext cx="8887299" cy="2644533"/>
          </a:xfrm>
          <a:prstGeom prst="rect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49000">
                <a:schemeClr val="accent4">
                  <a:lumMod val="75000"/>
                  <a:alpha val="0"/>
                </a:schemeClr>
              </a:gs>
            </a:gsLst>
            <a:lin ang="6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8499" y="952500"/>
            <a:ext cx="8887299" cy="5636798"/>
          </a:xfrm>
        </p:spPr>
        <p:txBody>
          <a:bodyPr anchor="b">
            <a:normAutofit/>
          </a:bodyPr>
          <a:lstStyle>
            <a:lvl1pPr algn="r">
              <a:defRPr sz="7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8450" y="0"/>
            <a:ext cx="7600185" cy="6858000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flipH="1" flipV="1">
            <a:off x="0" y="3409447"/>
            <a:ext cx="7609635" cy="3448553"/>
          </a:xfrm>
          <a:prstGeom prst="rect">
            <a:avLst/>
          </a:prstGeom>
          <a:gradFill>
            <a:gsLst>
              <a:gs pos="0">
                <a:schemeClr val="accent2"/>
              </a:gs>
              <a:gs pos="45000">
                <a:schemeClr val="bg2">
                  <a:alpha val="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 rot="16200000">
            <a:off x="394816" y="-375817"/>
            <a:ext cx="6858000" cy="7609635"/>
          </a:xfrm>
          <a:prstGeom prst="rect">
            <a:avLst/>
          </a:prstGeom>
          <a:gradFill>
            <a:gsLst>
              <a:gs pos="0">
                <a:schemeClr val="tx1"/>
              </a:gs>
              <a:gs pos="18000">
                <a:schemeClr val="accent3">
                  <a:lumMod val="60000"/>
                  <a:lumOff val="40000"/>
                  <a:alpha val="72000"/>
                </a:schemeClr>
              </a:gs>
              <a:gs pos="56000">
                <a:schemeClr val="accent1">
                  <a:lumMod val="50000"/>
                  <a:alpha val="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 rot="16200000">
            <a:off x="1188613" y="417977"/>
            <a:ext cx="5518112" cy="7361933"/>
          </a:xfrm>
          <a:prstGeom prst="rect">
            <a:avLst/>
          </a:prstGeom>
          <a:gradFill flip="none" rotWithShape="1">
            <a:gsLst>
              <a:gs pos="24000">
                <a:schemeClr val="bg2">
                  <a:alpha val="0"/>
                </a:schemeClr>
              </a:gs>
              <a:gs pos="45000">
                <a:schemeClr val="bg2">
                  <a:alpha val="82000"/>
                </a:schemeClr>
              </a:gs>
              <a:gs pos="67000">
                <a:schemeClr val="bg1">
                  <a:alpha val="0"/>
                </a:schemeClr>
              </a:gs>
            </a:gsLst>
            <a:lin ang="12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266702" y="1714498"/>
            <a:ext cx="4960617" cy="4722876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5"/>
          </p:nvPr>
        </p:nvSpPr>
        <p:spPr>
          <a:xfrm>
            <a:off x="7909368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7952232" y="1246951"/>
            <a:ext cx="3404277" cy="4923185"/>
          </a:xfrm>
        </p:spPr>
        <p:txBody>
          <a:bodyPr vert="horz" lIns="91440" tIns="45720" rIns="91440" bIns="45720" rtlCol="0" anchor="t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 flipH="1">
            <a:off x="8002560" y="762000"/>
            <a:ext cx="3840480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 rot="10800000">
            <a:off x="14619" y="-2"/>
            <a:ext cx="12177379" cy="4492404"/>
          </a:xfrm>
          <a:prstGeom prst="rect">
            <a:avLst/>
          </a:prstGeom>
          <a:gradFill flip="none" rotWithShape="1">
            <a:gsLst>
              <a:gs pos="33000">
                <a:schemeClr val="bg2">
                  <a:alpha val="0"/>
                </a:schemeClr>
              </a:gs>
              <a:gs pos="82000">
                <a:schemeClr val="accent1">
                  <a:lumMod val="50000"/>
                  <a:alpha val="44000"/>
                </a:schemeClr>
              </a:gs>
              <a:gs pos="100000">
                <a:schemeClr val="accent3">
                  <a:lumMod val="60000"/>
                  <a:lumOff val="40000"/>
                  <a:alpha val="9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flipH="1" flipV="1">
            <a:off x="723903" y="1161955"/>
            <a:ext cx="11468097" cy="3330447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27000">
                <a:schemeClr val="bg2">
                  <a:alpha val="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 rot="10800000">
            <a:off x="-14621" y="-7466"/>
            <a:ext cx="6110621" cy="2500409"/>
          </a:xfrm>
          <a:prstGeom prst="rect">
            <a:avLst/>
          </a:prstGeom>
          <a:gradFill flip="none" rotWithShape="1">
            <a:gsLst>
              <a:gs pos="63000">
                <a:schemeClr val="bg2">
                  <a:alpha val="0"/>
                </a:schemeClr>
              </a:gs>
              <a:gs pos="100000">
                <a:schemeClr val="accent1">
                  <a:lumMod val="50000"/>
                </a:schemeClr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274320" y="1468924"/>
            <a:ext cx="5096176" cy="2461308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>
          <a:xfrm>
            <a:off x="419100" y="210114"/>
            <a:ext cx="2064089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>
          <a:xfrm>
            <a:off x="6477000" y="210114"/>
            <a:ext cx="3251508" cy="36576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6487383" y="1161955"/>
            <a:ext cx="4158158" cy="2768278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600" dirty="0"/>
            </a:lvl1pPr>
            <a:lvl2pPr marL="5715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2pPr>
            <a:lvl3pPr marL="800100" indent="-342900"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3pPr>
            <a:lvl4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4pPr>
            <a:lvl5pPr>
              <a:spcBef>
                <a:spcPts val="1000"/>
              </a:spcBef>
              <a:spcAft>
                <a:spcPts val="600"/>
              </a:spcAft>
              <a:buFont typeface="+mj-lt"/>
              <a:buAutoNum type="arabicPeriod"/>
              <a:defRPr lang="en-US" sz="1400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7" hasCustomPrompt="1"/>
          </p:nvPr>
        </p:nvSpPr>
        <p:spPr>
          <a:xfrm>
            <a:off x="0" y="4492402"/>
            <a:ext cx="12192000" cy="2365597"/>
          </a:xfr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0" y="0"/>
            <a:ext cx="12192000" cy="6869579"/>
          </a:xfrm>
          <a:prstGeom prst="rect">
            <a:avLst/>
          </a:prstGeom>
          <a:gradFill flip="none" rotWithShape="1">
            <a:gsLst>
              <a:gs pos="23000">
                <a:schemeClr val="bg2">
                  <a:alpha val="0"/>
                </a:schemeClr>
              </a:gs>
              <a:gs pos="61000">
                <a:schemeClr val="accent1">
                  <a:lumMod val="50000"/>
                  <a:alpha val="50000"/>
                </a:schemeClr>
              </a:gs>
              <a:gs pos="100000">
                <a:schemeClr val="accent3">
                  <a:lumMod val="60000"/>
                  <a:lumOff val="40000"/>
                </a:schemeClr>
              </a:gs>
            </a:gsLst>
            <a:lin ang="186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 flipH="1" flipV="1">
            <a:off x="0" y="1727456"/>
            <a:ext cx="12192001" cy="5130541"/>
          </a:xfrm>
          <a:prstGeom prst="rect">
            <a:avLst/>
          </a:prstGeom>
          <a:gradFill>
            <a:gsLst>
              <a:gs pos="0">
                <a:schemeClr val="accent2">
                  <a:lumMod val="75000"/>
                </a:schemeClr>
              </a:gs>
              <a:gs pos="45000">
                <a:schemeClr val="bg2"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rot="5400000">
            <a:off x="4285048" y="-1037373"/>
            <a:ext cx="6869579" cy="8944324"/>
          </a:xfrm>
          <a:prstGeom prst="rect">
            <a:avLst/>
          </a:prstGeom>
          <a:gradFill flip="none" rotWithShape="1">
            <a:gsLst>
              <a:gs pos="60000">
                <a:schemeClr val="accent5">
                  <a:alpha val="0"/>
                </a:schemeClr>
              </a:gs>
              <a:gs pos="94000">
                <a:schemeClr val="accent3">
                  <a:lumMod val="20000"/>
                  <a:lumOff val="80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 rot="16200000">
            <a:off x="3586718" y="-681705"/>
            <a:ext cx="6783165" cy="8296238"/>
          </a:xfrm>
          <a:prstGeom prst="rect">
            <a:avLst/>
          </a:prstGeom>
          <a:gradFill flip="none" rotWithShape="1">
            <a:gsLst>
              <a:gs pos="26000">
                <a:schemeClr val="bg2"/>
              </a:gs>
              <a:gs pos="73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94716" y="6101080"/>
            <a:ext cx="11402568" cy="0"/>
          </a:xfrm>
          <a:prstGeom prst="line">
            <a:avLst/>
          </a:prstGeom>
          <a:ln w="6350">
            <a:solidFill>
              <a:schemeClr val="tx1">
                <a:lumMod val="85000"/>
                <a:alpha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 rot="10800000">
            <a:off x="0" y="1"/>
            <a:ext cx="12192000" cy="5281424"/>
          </a:xfrm>
          <a:prstGeom prst="rect">
            <a:avLst/>
          </a:prstGeom>
          <a:gradFill flip="none" rotWithShape="1">
            <a:gsLst>
              <a:gs pos="52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lumMod val="75000"/>
                </a:schemeClr>
              </a:gs>
            </a:gsLst>
            <a:lin ang="4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1" y="914400"/>
            <a:ext cx="7498080" cy="2621280"/>
          </a:xfrm>
        </p:spPr>
        <p:txBody>
          <a:bodyPr anchor="b">
            <a:normAutofit/>
          </a:bodyPr>
          <a:lstStyle>
            <a:lvl1pPr>
              <a:defRPr sz="4800" b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301751" y="3901440"/>
            <a:ext cx="7498080" cy="182880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 rot="10800000" flipH="1">
            <a:off x="391802" y="773848"/>
            <a:ext cx="11800198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5">
                  <a:lumMod val="75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 rot="10800000" flipH="1">
            <a:off x="0" y="773847"/>
            <a:ext cx="11026588" cy="1634270"/>
          </a:xfrm>
          <a:prstGeom prst="rect">
            <a:avLst/>
          </a:prstGeom>
          <a:gradFill flip="none" rotWithShape="1">
            <a:gsLst>
              <a:gs pos="575">
                <a:schemeClr val="accent2"/>
              </a:gs>
              <a:gs pos="3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918144"/>
            <a:ext cx="2939186" cy="2096814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>
          <a:xfrm>
            <a:off x="5334000" y="210114"/>
            <a:ext cx="2939491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334000" y="1918145"/>
            <a:ext cx="4991100" cy="4133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952500"/>
            <a:ext cx="3332784" cy="158191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6"/>
          </p:nvPr>
        </p:nvSpPr>
        <p:spPr>
          <a:xfrm>
            <a:off x="301752" y="205986"/>
            <a:ext cx="1097280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>
          <a:xfrm>
            <a:off x="1494378" y="207291"/>
            <a:ext cx="1639372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>
          <a:xfrm>
            <a:off x="3140760" y="210114"/>
            <a:ext cx="493776" cy="365760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01752" y="3099816"/>
            <a:ext cx="3332784" cy="3054096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 hasCustomPrompt="1"/>
          </p:nvPr>
        </p:nvSpPr>
        <p:spPr>
          <a:xfrm>
            <a:off x="4152900" y="0"/>
            <a:ext cx="80391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397288" y="2811277"/>
            <a:ext cx="324613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4282051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0"/>
            <a:ext cx="12192000" cy="386407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480560" y="4282051"/>
            <a:ext cx="7010399" cy="1532976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01752" y="6263640"/>
            <a:ext cx="1759288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80560" y="6263640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300323" y="6263640"/>
            <a:ext cx="605475" cy="365760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1984" y="955810"/>
            <a:ext cx="4114800" cy="124405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69596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6"/>
          </p:nvPr>
        </p:nvSpPr>
        <p:spPr>
          <a:xfrm>
            <a:off x="7469431" y="210114"/>
            <a:ext cx="1485900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7"/>
          </p:nvPr>
        </p:nvSpPr>
        <p:spPr>
          <a:xfrm>
            <a:off x="9376096" y="210114"/>
            <a:ext cx="186046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7491984" y="2791033"/>
            <a:ext cx="4114800" cy="33832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cxnSp>
        <p:nvCxnSpPr>
          <p:cNvPr id="5" name="Straight Connector 4"/>
          <p:cNvCxnSpPr/>
          <p:nvPr/>
        </p:nvCxnSpPr>
        <p:spPr>
          <a:xfrm flipH="1">
            <a:off x="7595441" y="2475756"/>
            <a:ext cx="4011343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 flipH="1">
            <a:off x="6959599" y="5749680"/>
            <a:ext cx="5232400" cy="1108320"/>
          </a:xfrm>
          <a:prstGeom prst="rect">
            <a:avLst/>
          </a:prstGeom>
          <a:gradFill>
            <a:gsLst>
              <a:gs pos="65000">
                <a:schemeClr val="accent1">
                  <a:lumMod val="50000"/>
                  <a:alpha val="0"/>
                </a:schemeClr>
              </a:gs>
              <a:gs pos="100000">
                <a:schemeClr val="accent6">
                  <a:lumMod val="75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017686"/>
            <a:ext cx="3410958" cy="1532976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48056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480560" y="1017686"/>
            <a:ext cx="7010399" cy="237744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6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200"/>
            </a:lvl3pPr>
            <a:lvl4pPr marL="685800" indent="0">
              <a:buFont typeface="Arial" panose="020B0604020202020204" pitchFamily="34" charset="0"/>
              <a:buNone/>
              <a:defRPr sz="1100"/>
            </a:lvl4pPr>
            <a:lvl5pPr marL="914400" indent="0">
              <a:buFont typeface="Arial" panose="020B0604020202020204" pitchFamily="34" charset="0"/>
              <a:buNone/>
              <a:defRPr sz="105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6" hasCustomPrompt="1"/>
          </p:nvPr>
        </p:nvSpPr>
        <p:spPr>
          <a:xfrm>
            <a:off x="0" y="3837709"/>
            <a:ext cx="12192000" cy="3020291"/>
          </a:xfrm>
          <a:blipFill dpi="0" rotWithShape="1">
            <a:blip r:embed="rId2">
              <a:alphaModFix amt="60000"/>
            </a:blip>
            <a:srcRect/>
            <a:stretch>
              <a:fillRect t="-27937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371600"/>
            <a:ext cx="3474720" cy="2286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>
          <a:xfrm>
            <a:off x="4457700" y="210114"/>
            <a:ext cx="2859307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8"/>
          </p:nvPr>
        </p:nvSpPr>
        <p:spPr>
          <a:xfrm>
            <a:off x="7611572" y="210114"/>
            <a:ext cx="605475" cy="365760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457700" y="1371600"/>
            <a:ext cx="3368778" cy="4701943"/>
          </a:xfrm>
        </p:spPr>
        <p:txBody>
          <a:bodyPr rIns="45720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5" hasCustomPrompt="1"/>
          </p:nvPr>
        </p:nvSpPr>
        <p:spPr>
          <a:xfrm>
            <a:off x="8731045" y="0"/>
            <a:ext cx="3460955" cy="686687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 flipH="1">
            <a:off x="0" y="4771072"/>
            <a:ext cx="4874661" cy="2095805"/>
          </a:xfrm>
          <a:prstGeom prst="rect">
            <a:avLst/>
          </a:prstGeom>
          <a:gradFill>
            <a:gsLst>
              <a:gs pos="67000">
                <a:schemeClr val="bg2">
                  <a:alpha val="0"/>
                </a:schemeClr>
              </a:gs>
              <a:gs pos="95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 flipH="1">
            <a:off x="-2" y="3852909"/>
            <a:ext cx="2823100" cy="3022846"/>
          </a:xfrm>
          <a:prstGeom prst="rect">
            <a:avLst/>
          </a:prstGeom>
          <a:gradFill flip="none" rotWithShape="1">
            <a:gsLst>
              <a:gs pos="0">
                <a:schemeClr val="tx2">
                  <a:alpha val="50000"/>
                </a:schemeClr>
              </a:gs>
              <a:gs pos="17000">
                <a:schemeClr val="accent6">
                  <a:lumMod val="60000"/>
                  <a:lumOff val="40000"/>
                  <a:alpha val="52000"/>
                </a:schemeClr>
              </a:gs>
              <a:gs pos="58000">
                <a:schemeClr val="bg1">
                  <a:alpha val="0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97002" y="751313"/>
            <a:ext cx="7726680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952499"/>
            <a:ext cx="6751127" cy="1250871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6"/>
          </p:nvPr>
        </p:nvSpPr>
        <p:spPr>
          <a:xfrm>
            <a:off x="301752" y="203862"/>
            <a:ext cx="2286000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7"/>
          </p:nvPr>
        </p:nvSpPr>
        <p:spPr>
          <a:xfrm>
            <a:off x="2590800" y="203862"/>
            <a:ext cx="2775003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8"/>
          </p:nvPr>
        </p:nvSpPr>
        <p:spPr>
          <a:xfrm>
            <a:off x="6247336" y="203862"/>
            <a:ext cx="864794" cy="365760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301752" y="2410518"/>
            <a:ext cx="6755514" cy="38074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5" hasCustomPrompt="1"/>
          </p:nvPr>
        </p:nvSpPr>
        <p:spPr>
          <a:xfrm>
            <a:off x="7620000" y="0"/>
            <a:ext cx="4572000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 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 flipH="1">
            <a:off x="0" y="3706098"/>
            <a:ext cx="7620000" cy="3151902"/>
          </a:xfrm>
          <a:prstGeom prst="rect">
            <a:avLst/>
          </a:prstGeom>
          <a:gradFill>
            <a:gsLst>
              <a:gs pos="79000">
                <a:schemeClr val="bg2">
                  <a:alpha val="0"/>
                </a:schemeClr>
              </a:gs>
              <a:gs pos="100000">
                <a:schemeClr val="accent6">
                  <a:alpha val="66000"/>
                </a:schemeClr>
              </a:gs>
            </a:gsLst>
            <a:lin ang="52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 flipH="1">
            <a:off x="0" y="5597112"/>
            <a:ext cx="7620000" cy="1260888"/>
          </a:xfrm>
          <a:prstGeom prst="rect">
            <a:avLst/>
          </a:prstGeom>
          <a:gradFill flip="none" rotWithShape="1">
            <a:gsLst>
              <a:gs pos="21830">
                <a:schemeClr val="accent1">
                  <a:alpha val="29000"/>
                </a:schemeClr>
              </a:gs>
              <a:gs pos="0">
                <a:schemeClr val="accent5">
                  <a:lumMod val="60000"/>
                  <a:lumOff val="40000"/>
                  <a:alpha val="84000"/>
                </a:schemeClr>
              </a:gs>
              <a:gs pos="57000">
                <a:schemeClr val="bg1">
                  <a:alpha val="0"/>
                </a:schemeClr>
              </a:gs>
            </a:gsLst>
            <a:lin ang="16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 flipH="1">
            <a:off x="397002" y="751313"/>
            <a:ext cx="6620256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2834639"/>
            <a:ext cx="3014382" cy="2926080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9" hasCustomPrompt="1"/>
          </p:nvPr>
        </p:nvSpPr>
        <p:spPr>
          <a:xfrm>
            <a:off x="-17796" y="0"/>
            <a:ext cx="12209796" cy="242009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480560" y="2834640"/>
            <a:ext cx="7200900" cy="2926080"/>
          </a:xfrm>
        </p:spPr>
        <p:txBody>
          <a:bodyPr>
            <a:noAutofit/>
          </a:bodyPr>
          <a:lstStyle>
            <a:lvl1pPr marL="285750" indent="-285750">
              <a:buFont typeface="Arial" panose="020B0604020202020204" pitchFamily="34" charset="0"/>
              <a:buNone/>
              <a:defRPr sz="1800"/>
            </a:lvl1pPr>
            <a:lvl2pPr marL="514350" indent="-285750">
              <a:buFont typeface="Arial" panose="020B0604020202020204" pitchFamily="34" charset="0"/>
              <a:buNone/>
              <a:defRPr sz="1600"/>
            </a:lvl2pPr>
            <a:lvl3pPr marL="742950" indent="-285750">
              <a:buFont typeface="Arial" panose="020B0604020202020204" pitchFamily="34" charset="0"/>
              <a:buNone/>
              <a:defRPr sz="1400"/>
            </a:lvl3pPr>
            <a:lvl4pPr marL="857250" indent="-171450">
              <a:buFont typeface="Arial" panose="020B0604020202020204" pitchFamily="34" charset="0"/>
              <a:buNone/>
              <a:defRPr sz="1200"/>
            </a:lvl4pPr>
            <a:lvl5pPr marL="1085850" indent="-171450">
              <a:buFont typeface="Arial" panose="020B0604020202020204" pitchFamily="34" charset="0"/>
              <a:buNone/>
              <a:defRPr sz="110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6"/>
          </p:nvPr>
        </p:nvSpPr>
        <p:spPr>
          <a:xfrm>
            <a:off x="301752" y="6274033"/>
            <a:ext cx="3014382" cy="365760"/>
          </a:xfrm>
        </p:spPr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7"/>
          </p:nvPr>
        </p:nvSpPr>
        <p:spPr>
          <a:xfrm>
            <a:off x="4480560" y="6274033"/>
            <a:ext cx="3162300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8"/>
          </p:nvPr>
        </p:nvSpPr>
        <p:spPr>
          <a:xfrm>
            <a:off x="11292840" y="6274033"/>
            <a:ext cx="568917" cy="365760"/>
          </a:xfrm>
        </p:spPr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394716" y="609519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010934"/>
            <a:ext cx="3507418" cy="1398494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>
          <a:xfrm>
            <a:off x="4932680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451351" y="2680447"/>
            <a:ext cx="3357819" cy="3662083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 flipH="1">
            <a:off x="2171702" y="5847066"/>
            <a:ext cx="10020298" cy="1010934"/>
          </a:xfrm>
          <a:prstGeom prst="rect">
            <a:avLst/>
          </a:prstGeom>
          <a:gradFill>
            <a:gsLst>
              <a:gs pos="52000">
                <a:schemeClr val="bg2">
                  <a:alpha val="0"/>
                </a:schemeClr>
              </a:gs>
              <a:gs pos="76000">
                <a:schemeClr val="accent1">
                  <a:lumMod val="50000"/>
                  <a:alpha val="39000"/>
                </a:schemeClr>
              </a:gs>
              <a:gs pos="100000">
                <a:schemeClr val="accent5">
                  <a:alpha val="68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/>
          <p:cNvSpPr/>
          <p:nvPr/>
        </p:nvSpPr>
        <p:spPr>
          <a:xfrm rot="16200000" flipH="1">
            <a:off x="7767364" y="2433362"/>
            <a:ext cx="4944033" cy="3905239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40000"/>
                </a:schemeClr>
              </a:gs>
              <a:gs pos="32000">
                <a:schemeClr val="bg1">
                  <a:alpha val="0"/>
                </a:schemeClr>
              </a:gs>
            </a:gsLst>
            <a:lin ang="14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2" name="Straight Connector 11"/>
          <p:cNvCxnSpPr/>
          <p:nvPr/>
        </p:nvCxnSpPr>
        <p:spPr>
          <a:xfrm>
            <a:off x="4426824" y="1075765"/>
            <a:ext cx="0" cy="4944035"/>
          </a:xfrm>
          <a:prstGeom prst="line">
            <a:avLst/>
          </a:prstGeom>
          <a:ln w="6350">
            <a:solidFill>
              <a:schemeClr val="bg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932679" y="1010932"/>
            <a:ext cx="6492240" cy="521208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019811"/>
            <a:ext cx="3419380" cy="1856553"/>
          </a:xfrm>
        </p:spPr>
        <p:txBody>
          <a:bodyPr anchor="t">
            <a:normAutofit/>
          </a:bodyPr>
          <a:lstStyle>
            <a:lvl1pPr>
              <a:defRPr sz="28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5"/>
          </p:nvPr>
        </p:nvSpPr>
        <p:spPr>
          <a:xfrm>
            <a:off x="4478969" y="210114"/>
            <a:ext cx="2509284" cy="36576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1" name="Picture Placeholder 10"/>
          <p:cNvSpPr>
            <a:spLocks noGrp="1"/>
          </p:cNvSpPr>
          <p:nvPr>
            <p:ph type="pic" sz="quarter" idx="17" hasCustomPrompt="1"/>
          </p:nvPr>
        </p:nvSpPr>
        <p:spPr>
          <a:xfrm>
            <a:off x="382390" y="3045041"/>
            <a:ext cx="3338742" cy="3297489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4478968" y="1019810"/>
            <a:ext cx="7315200" cy="55778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6476998" y="4907611"/>
            <a:ext cx="5320285" cy="1438873"/>
          </a:xfrm>
        </p:spPr>
        <p:txBody>
          <a:bodyPr anchor="t"/>
          <a:lstStyle>
            <a:lvl1pPr>
              <a:lnSpc>
                <a:spcPct val="100000"/>
              </a:lnSpc>
              <a:defRPr sz="2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7" hasCustomPrompt="1"/>
          </p:nvPr>
        </p:nvSpPr>
        <p:spPr>
          <a:xfrm>
            <a:off x="274638" y="766763"/>
            <a:ext cx="11320462" cy="3489325"/>
          </a:xfrm>
        </p:spPr>
        <p:txBody>
          <a:bodyPr/>
          <a:lstStyle>
            <a:lvl1pPr>
              <a:lnSpc>
                <a:spcPct val="85000"/>
              </a:lnSpc>
              <a:defRPr sz="24000">
                <a:gradFill>
                  <a:gsLst>
                    <a:gs pos="0">
                      <a:schemeClr val="accent6"/>
                    </a:gs>
                    <a:gs pos="46000">
                      <a:schemeClr val="accent1"/>
                    </a:gs>
                    <a:gs pos="100000">
                      <a:schemeClr val="accent3">
                        <a:lumMod val="60000"/>
                        <a:lumOff val="40000"/>
                      </a:schemeClr>
                    </a:gs>
                  </a:gsLst>
                  <a:lin ang="4200000" scaled="0"/>
                </a:gra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394716" y="4662243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>
          <a:xfrm rot="10800000" flipH="1">
            <a:off x="-1" y="0"/>
            <a:ext cx="12192002" cy="6858000"/>
          </a:xfrm>
          <a:prstGeom prst="rect">
            <a:avLst/>
          </a:prstGeom>
          <a:gradFill flip="none" rotWithShape="1">
            <a:gsLst>
              <a:gs pos="50000">
                <a:schemeClr val="accent3">
                  <a:lumMod val="60000"/>
                  <a:lumOff val="40000"/>
                  <a:alpha val="75000"/>
                </a:schemeClr>
              </a:gs>
              <a:gs pos="0">
                <a:schemeClr val="accent1">
                  <a:lumMod val="50000"/>
                </a:schemeClr>
              </a:gs>
              <a:gs pos="100000">
                <a:schemeClr val="accent4">
                  <a:lumMod val="50000"/>
                </a:schemeClr>
              </a:gs>
              <a:gs pos="85000">
                <a:schemeClr val="accent2">
                  <a:lumMod val="75000"/>
                </a:schemeClr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/>
          <p:cNvSpPr/>
          <p:nvPr/>
        </p:nvSpPr>
        <p:spPr>
          <a:xfrm flipH="1">
            <a:off x="3683466" y="0"/>
            <a:ext cx="8508534" cy="6858000"/>
          </a:xfrm>
          <a:prstGeom prst="rect">
            <a:avLst/>
          </a:prstGeom>
          <a:gradFill flip="none" rotWithShape="1">
            <a:gsLst>
              <a:gs pos="6000">
                <a:schemeClr val="accent3">
                  <a:lumMod val="40000"/>
                  <a:lumOff val="60000"/>
                </a:schemeClr>
              </a:gs>
              <a:gs pos="73000">
                <a:schemeClr val="accent3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1670408" y="-1670408"/>
            <a:ext cx="7492544" cy="10833360"/>
          </a:xfrm>
          <a:prstGeom prst="rect">
            <a:avLst/>
          </a:prstGeom>
          <a:gradFill flip="none" rotWithShape="1">
            <a:gsLst>
              <a:gs pos="58000">
                <a:schemeClr val="accent2">
                  <a:alpha val="0"/>
                </a:schemeClr>
              </a:gs>
              <a:gs pos="98000">
                <a:schemeClr val="accent6">
                  <a:lumMod val="75000"/>
                </a:schemeClr>
              </a:gs>
            </a:gsLst>
            <a:lin ang="96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6734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Rectangle 2"/>
          <p:cNvSpPr/>
          <p:nvPr/>
        </p:nvSpPr>
        <p:spPr>
          <a:xfrm rot="10800000">
            <a:off x="5031742" y="-20336"/>
            <a:ext cx="7160258" cy="6878336"/>
          </a:xfrm>
          <a:prstGeom prst="rect">
            <a:avLst/>
          </a:prstGeom>
          <a:gradFill>
            <a:gsLst>
              <a:gs pos="30000">
                <a:schemeClr val="accent4">
                  <a:lumMod val="60000"/>
                  <a:lumOff val="40000"/>
                  <a:alpha val="0"/>
                </a:schemeClr>
              </a:gs>
              <a:gs pos="89000">
                <a:schemeClr val="bg2"/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/>
          <p:cNvSpPr/>
          <p:nvPr/>
        </p:nvSpPr>
        <p:spPr>
          <a:xfrm flipH="1">
            <a:off x="8961" y="2704579"/>
            <a:ext cx="12183038" cy="4153421"/>
          </a:xfrm>
          <a:prstGeom prst="rect">
            <a:avLst/>
          </a:prstGeom>
          <a:gradFill flip="none" rotWithShape="1">
            <a:gsLst>
              <a:gs pos="20000">
                <a:schemeClr val="accent1">
                  <a:alpha val="0"/>
                </a:schemeClr>
              </a:gs>
              <a:gs pos="68000">
                <a:schemeClr val="bg2">
                  <a:alpha val="67000"/>
                </a:schemeClr>
              </a:gs>
              <a:gs pos="90000">
                <a:schemeClr val="bg2"/>
              </a:gs>
            </a:gsLst>
            <a:lin ang="4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7" hasCustomPrompt="1"/>
          </p:nvPr>
        </p:nvSpPr>
        <p:spPr>
          <a:xfrm>
            <a:off x="274320" y="2704946"/>
            <a:ext cx="9801225" cy="3538538"/>
          </a:xfrm>
        </p:spPr>
        <p:txBody>
          <a:bodyPr anchor="b"/>
          <a:lstStyle>
            <a:lvl1pPr>
              <a:lnSpc>
                <a:spcPct val="100000"/>
              </a:lnSpc>
              <a:defRPr sz="5400"/>
            </a:lvl1pPr>
            <a:lvl2pPr>
              <a:lnSpc>
                <a:spcPct val="100000"/>
              </a:lnSpc>
              <a:defRPr sz="4800"/>
            </a:lvl2pPr>
            <a:lvl3pPr>
              <a:lnSpc>
                <a:spcPct val="100000"/>
              </a:lnSpc>
              <a:defRPr sz="4400"/>
            </a:lvl3pPr>
            <a:lvl4pPr>
              <a:lnSpc>
                <a:spcPct val="100000"/>
              </a:lnSpc>
              <a:defRPr sz="4000"/>
            </a:lvl4pPr>
            <a:lvl5pPr>
              <a:lnSpc>
                <a:spcPct val="100000"/>
              </a:lnSpc>
              <a:defRPr sz="3600"/>
            </a:lvl5pPr>
          </a:lstStyle>
          <a:p>
            <a:pPr lvl="0"/>
            <a:r>
              <a:rPr lang="en-US" dirty="0"/>
              <a:t>Click to add Statement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0" y="3861412"/>
            <a:ext cx="12192000" cy="3010777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60000"/>
                  <a:lumOff val="40000"/>
                  <a:alpha val="70000"/>
                </a:schemeClr>
              </a:gs>
              <a:gs pos="50000">
                <a:schemeClr val="bg2">
                  <a:alpha val="0"/>
                </a:schemeClr>
              </a:gs>
            </a:gsLst>
            <a:lin ang="1716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 rot="5400000" flipH="1">
            <a:off x="2667005" y="-2666996"/>
            <a:ext cx="6857996" cy="12191993"/>
          </a:xfrm>
          <a:prstGeom prst="rect">
            <a:avLst/>
          </a:prstGeom>
          <a:gradFill>
            <a:gsLst>
              <a:gs pos="0">
                <a:schemeClr val="bg1"/>
              </a:gs>
              <a:gs pos="100000">
                <a:schemeClr val="accent1">
                  <a:lumMod val="75000"/>
                  <a:alpha val="0"/>
                </a:schemeClr>
              </a:gs>
            </a:gsLst>
            <a:lin ang="4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0" name="Rectangle 9"/>
          <p:cNvSpPr/>
          <p:nvPr/>
        </p:nvSpPr>
        <p:spPr>
          <a:xfrm rot="16200000" flipH="1">
            <a:off x="4381500" y="-4373435"/>
            <a:ext cx="3429000" cy="12175870"/>
          </a:xfrm>
          <a:prstGeom prst="rect">
            <a:avLst/>
          </a:prstGeom>
          <a:gradFill flip="none" rotWithShape="1">
            <a:gsLst>
              <a:gs pos="0">
                <a:schemeClr val="accent2"/>
              </a:gs>
              <a:gs pos="36000">
                <a:schemeClr val="accent6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866900" y="4967784"/>
            <a:ext cx="8484108" cy="1052015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Quote Author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1866900" y="1405719"/>
            <a:ext cx="8484108" cy="3087622"/>
          </a:xfrm>
        </p:spPr>
        <p:txBody>
          <a:bodyPr vert="horz" lIns="91440" tIns="45720" rIns="91440" bIns="45720" rtlCol="0" anchor="ctr">
            <a:noAutofit/>
          </a:bodyPr>
          <a:lstStyle>
            <a:lvl1pPr marL="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lang="en-US" sz="4000" b="0" dirty="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lang="en-US" sz="3600" b="0" dirty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Quote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2077285" y="4810814"/>
            <a:ext cx="8273723" cy="0"/>
          </a:xfrm>
          <a:prstGeom prst="line">
            <a:avLst/>
          </a:prstGeom>
          <a:ln w="6350">
            <a:solidFill>
              <a:schemeClr val="tx1">
                <a:lumMod val="75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clus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762000"/>
            <a:ext cx="7012885" cy="1381432"/>
          </a:xfrm>
        </p:spPr>
        <p:txBody>
          <a:bodyPr anchor="t">
            <a:noAutofit/>
          </a:bodyPr>
          <a:lstStyle>
            <a:lvl1pPr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cxnSp>
        <p:nvCxnSpPr>
          <p:cNvPr id="3" name="Straight Connector 2"/>
          <p:cNvCxnSpPr/>
          <p:nvPr/>
        </p:nvCxnSpPr>
        <p:spPr>
          <a:xfrm flipH="1">
            <a:off x="394716" y="303297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 rot="5400000" flipH="1">
            <a:off x="4765041" y="-568961"/>
            <a:ext cx="2661919" cy="12192002"/>
          </a:xfrm>
          <a:prstGeom prst="rect">
            <a:avLst/>
          </a:prstGeom>
          <a:gradFill>
            <a:gsLst>
              <a:gs pos="51000">
                <a:schemeClr val="bg2">
                  <a:alpha val="0"/>
                </a:schemeClr>
              </a:gs>
              <a:gs pos="98276">
                <a:schemeClr val="tx2"/>
              </a:gs>
              <a:gs pos="85000">
                <a:schemeClr val="accent1">
                  <a:alpha val="8500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 rot="5400000" flipH="1">
            <a:off x="4516120" y="-817882"/>
            <a:ext cx="3159760" cy="12192003"/>
          </a:xfrm>
          <a:prstGeom prst="rect">
            <a:avLst/>
          </a:prstGeom>
          <a:gradFill>
            <a:gsLst>
              <a:gs pos="62000">
                <a:schemeClr val="bg2">
                  <a:alpha val="0"/>
                </a:schemeClr>
              </a:gs>
              <a:gs pos="98276">
                <a:schemeClr val="accent5"/>
              </a:gs>
              <a:gs pos="88000">
                <a:schemeClr val="accent3">
                  <a:alpha val="49000"/>
                </a:schemeClr>
              </a:gs>
            </a:gsLst>
            <a:lin ang="103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3"/>
          </p:nvPr>
        </p:nvSpPr>
        <p:spPr>
          <a:xfrm>
            <a:off x="503230" y="3429000"/>
            <a:ext cx="11171699" cy="2465612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nclus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 rot="5400000">
            <a:off x="5020923" y="-2430130"/>
            <a:ext cx="1825034" cy="11866880"/>
          </a:xfrm>
          <a:prstGeom prst="rect">
            <a:avLst/>
          </a:prstGeom>
          <a:gradFill>
            <a:gsLst>
              <a:gs pos="41000">
                <a:schemeClr val="bg1">
                  <a:alpha val="0"/>
                </a:schemeClr>
              </a:gs>
              <a:gs pos="85612">
                <a:schemeClr val="accent4">
                  <a:alpha val="78000"/>
                </a:schemeClr>
              </a:gs>
              <a:gs pos="100000">
                <a:schemeClr val="accent6"/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 rot="10800000" flipH="1">
            <a:off x="0" y="2590790"/>
            <a:ext cx="12192000" cy="1825033"/>
          </a:xfrm>
          <a:prstGeom prst="rect">
            <a:avLst/>
          </a:prstGeom>
          <a:gradFill>
            <a:gsLst>
              <a:gs pos="68000">
                <a:schemeClr val="bg2">
                  <a:alpha val="0"/>
                </a:schemeClr>
              </a:gs>
              <a:gs pos="98851">
                <a:schemeClr val="accent5">
                  <a:lumMod val="60000"/>
                  <a:lumOff val="40000"/>
                </a:schemeClr>
              </a:gs>
              <a:gs pos="89000">
                <a:schemeClr val="accent3">
                  <a:lumMod val="60000"/>
                  <a:lumOff val="40000"/>
                  <a:alpha val="35000"/>
                </a:schemeClr>
              </a:gs>
            </a:gsLst>
            <a:lin ang="51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762000"/>
            <a:ext cx="6095999" cy="1454506"/>
          </a:xfrm>
        </p:spPr>
        <p:txBody>
          <a:bodyPr anchor="t">
            <a:normAutofit/>
          </a:bodyPr>
          <a:lstStyle>
            <a:lvl1pPr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7620000" y="3337560"/>
            <a:ext cx="3595171" cy="2828581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8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100" dirty="0"/>
            </a:lvl4pPr>
            <a:lvl5pPr marL="914400" indent="0">
              <a:buNone/>
              <a:defRPr lang="en-US" sz="1050" dirty="0"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731520"/>
            <a:ext cx="10858500" cy="692389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8"/>
          </p:nvPr>
        </p:nvSpPr>
        <p:spPr>
          <a:xfrm>
            <a:off x="301625" y="1806575"/>
            <a:ext cx="5165725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Content Placeholder 6"/>
          <p:cNvSpPr>
            <a:spLocks noGrp="1"/>
          </p:cNvSpPr>
          <p:nvPr>
            <p:ph sz="quarter" idx="19"/>
          </p:nvPr>
        </p:nvSpPr>
        <p:spPr>
          <a:xfrm>
            <a:off x="6723891" y="1806575"/>
            <a:ext cx="4991100" cy="4586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 flipH="1">
            <a:off x="394716" y="1584960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731520"/>
            <a:ext cx="11585448" cy="6620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1775779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6"/>
          <p:cNvSpPr>
            <a:spLocks noGrp="1"/>
          </p:cNvSpPr>
          <p:nvPr>
            <p:ph sz="quarter" idx="18"/>
          </p:nvPr>
        </p:nvSpPr>
        <p:spPr>
          <a:xfrm>
            <a:off x="301625" y="2492481"/>
            <a:ext cx="5165725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20840" y="1775777"/>
            <a:ext cx="5166360" cy="640080"/>
          </a:xfrm>
        </p:spPr>
        <p:txBody>
          <a:bodyPr anchor="ctr" anchorCtr="0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8" name="Content Placeholder 6"/>
          <p:cNvSpPr>
            <a:spLocks noGrp="1"/>
          </p:cNvSpPr>
          <p:nvPr>
            <p:ph sz="quarter" idx="19"/>
          </p:nvPr>
        </p:nvSpPr>
        <p:spPr>
          <a:xfrm>
            <a:off x="6723890" y="2492481"/>
            <a:ext cx="5181907" cy="39003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 flipH="1">
            <a:off x="394716" y="1579934"/>
            <a:ext cx="11402568" cy="0"/>
          </a:xfrm>
          <a:prstGeom prst="line">
            <a:avLst/>
          </a:prstGeom>
          <a:ln w="6350">
            <a:solidFill>
              <a:schemeClr val="tx1">
                <a:lumMod val="50000"/>
                <a:alpha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 flipV="1">
            <a:off x="0" y="0"/>
            <a:ext cx="12191999" cy="1337733"/>
          </a:xfrm>
          <a:prstGeom prst="rect">
            <a:avLst/>
          </a:prstGeom>
          <a:gradFill>
            <a:gsLst>
              <a:gs pos="51000">
                <a:schemeClr val="accent2">
                  <a:lumMod val="50000"/>
                  <a:alpha val="0"/>
                </a:schemeClr>
              </a:gs>
              <a:gs pos="100000">
                <a:schemeClr val="accent1">
                  <a:alpha val="40000"/>
                </a:schemeClr>
              </a:gs>
            </a:gsLst>
            <a:lin ang="576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1005840"/>
            <a:ext cx="9906000" cy="801042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0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1752" y="869140"/>
            <a:ext cx="11604046" cy="96920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01752" y="210114"/>
            <a:ext cx="1759288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B61BEF0D-F0BB-DE4B-95CE-6DB70DBA9567}" type="datetimeFigureOut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622485" y="210114"/>
            <a:ext cx="2509284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00323" y="210114"/>
            <a:ext cx="605475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800" cap="none" spc="0" baseline="0">
                <a:solidFill>
                  <a:schemeClr val="tx1"/>
                </a:solidFill>
              </a:defRPr>
            </a:lvl1pPr>
          </a:lstStyle>
          <a:p>
            <a:fld id="{D57F1E4F-1CFF-5643-939E-217C01CDF565}" type="slidenum">
              <a:rPr lang="en-US" smtClean="0"/>
            </a:fld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1752" y="2047284"/>
            <a:ext cx="11604046" cy="42346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394716" y="751313"/>
            <a:ext cx="11402568" cy="0"/>
          </a:xfrm>
          <a:prstGeom prst="line">
            <a:avLst/>
          </a:prstGeom>
          <a:ln w="6350">
            <a:solidFill>
              <a:schemeClr val="tx1">
                <a:lumMod val="75000"/>
                <a:alpha val="34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800" b="0" kern="1200" spc="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9.xml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9.xml"/><Relationship Id="rId1" Type="http://schemas.openxmlformats.org/officeDocument/2006/relationships/image" Target="../media/image1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DESIGN AND SIMULATION OF ADDER AND SUBTRACTOR USING LOGISIM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COMBINATIONAL LOGIC AND ARITHMETIC CIRCUITS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COMBINATIONAL LOGIC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1" y="2624667"/>
            <a:ext cx="10131425" cy="3166533"/>
          </a:xfrm>
        </p:spPr>
        <p:txBody>
          <a:bodyPr>
            <a:normAutofit fontScale="92500" lnSpcReduction="10000"/>
          </a:bodyPr>
          <a:lstStyle/>
          <a:p>
            <a:pPr lvl="0"/>
            <a:r>
              <a:rPr lang="en-IN" dirty="0"/>
              <a:t>A combinational circuit produces output based only on its </a:t>
            </a:r>
            <a:r>
              <a:rPr lang="en-IN" b="1" dirty="0"/>
              <a:t>current inputs</a:t>
            </a:r>
            <a:r>
              <a:rPr lang="en-IN" dirty="0"/>
              <a:t>. </a:t>
            </a:r>
            <a:endParaRPr lang="en-IN" dirty="0"/>
          </a:p>
          <a:p>
            <a:pPr lvl="0"/>
            <a:r>
              <a:rPr lang="en-IN" dirty="0"/>
              <a:t>It does not store previous inputs. </a:t>
            </a:r>
            <a:endParaRPr lang="en-IN" dirty="0"/>
          </a:p>
          <a:p>
            <a:pPr lvl="0"/>
            <a:r>
              <a:rPr lang="en-IN" dirty="0"/>
              <a:t>It does not require memory elements. </a:t>
            </a:r>
            <a:endParaRPr lang="en-IN" dirty="0"/>
          </a:p>
          <a:p>
            <a:pPr lvl="0"/>
            <a:r>
              <a:rPr lang="en-IN" dirty="0"/>
              <a:t>Examples include: </a:t>
            </a:r>
            <a:endParaRPr lang="en-IN" dirty="0"/>
          </a:p>
          <a:p>
            <a:pPr lvl="1"/>
            <a:r>
              <a:rPr lang="en-IN" dirty="0"/>
              <a:t>Adders </a:t>
            </a:r>
            <a:endParaRPr lang="en-IN" dirty="0"/>
          </a:p>
          <a:p>
            <a:pPr lvl="1"/>
            <a:r>
              <a:rPr lang="en-IN" dirty="0"/>
              <a:t>Subtractors </a:t>
            </a:r>
            <a:endParaRPr lang="en-IN" dirty="0"/>
          </a:p>
          <a:p>
            <a:pPr lvl="1"/>
            <a:r>
              <a:rPr lang="en-IN" dirty="0"/>
              <a:t>Multiplexers </a:t>
            </a:r>
            <a:endParaRPr lang="en-IN" dirty="0"/>
          </a:p>
          <a:p>
            <a:pPr lvl="1"/>
            <a:r>
              <a:rPr lang="en-IN" dirty="0"/>
              <a:t>Decoders </a:t>
            </a:r>
            <a:endParaRPr lang="en-IN" dirty="0"/>
          </a:p>
          <a:p>
            <a:pPr lvl="1"/>
            <a:r>
              <a:rPr lang="en-IN" dirty="0"/>
              <a:t>Comparators </a:t>
            </a:r>
            <a:endParaRPr lang="en-IN" dirty="0"/>
          </a:p>
          <a:p>
            <a:pPr lvl="0"/>
            <a:r>
              <a:rPr lang="en-IN" dirty="0"/>
              <a:t>Combinational circuits form important building blocks of a CPU.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K-MAP SIMPLIFICATION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K-map is used to simplify Boolean expressions. </a:t>
            </a:r>
            <a:endParaRPr lang="en-IN" dirty="0"/>
          </a:p>
          <a:p>
            <a:pPr lvl="0"/>
            <a:r>
              <a:rPr lang="en-IN" dirty="0"/>
              <a:t>It reduces the number of logic gates required. </a:t>
            </a:r>
            <a:endParaRPr lang="en-IN" dirty="0"/>
          </a:p>
          <a:p>
            <a:pPr lvl="0"/>
            <a:r>
              <a:rPr lang="en-IN" dirty="0"/>
              <a:t>Simplified circuits can be: </a:t>
            </a:r>
            <a:endParaRPr lang="en-IN" dirty="0"/>
          </a:p>
          <a:p>
            <a:pPr lvl="1"/>
            <a:r>
              <a:rPr lang="en-IN" dirty="0"/>
              <a:t>Faster </a:t>
            </a:r>
            <a:endParaRPr lang="en-IN" dirty="0"/>
          </a:p>
          <a:p>
            <a:pPr lvl="1"/>
            <a:r>
              <a:rPr lang="en-IN" dirty="0"/>
              <a:t>Smaller </a:t>
            </a:r>
            <a:endParaRPr lang="en-IN" dirty="0"/>
          </a:p>
          <a:p>
            <a:pPr lvl="1"/>
            <a:r>
              <a:rPr lang="en-IN" dirty="0"/>
              <a:t>Lower power </a:t>
            </a:r>
            <a:endParaRPr lang="en-IN" dirty="0"/>
          </a:p>
          <a:p>
            <a:pPr lvl="1"/>
            <a:r>
              <a:rPr lang="en-IN" dirty="0"/>
              <a:t>Less expensive </a:t>
            </a:r>
            <a:endParaRPr lang="en-IN" dirty="0"/>
          </a:p>
          <a:p>
            <a:pPr lvl="0"/>
            <a:r>
              <a:rPr lang="en-IN" dirty="0"/>
              <a:t>K-maps are useful in designing optimized combinational circuits.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HALF ADDER</a:t>
            </a:r>
            <a:endParaRPr lang="en-IN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 Half Adder adds two 1-bit binary numbers. </a:t>
            </a:r>
            <a:endParaRPr lang="en-IN" dirty="0"/>
          </a:p>
          <a:p>
            <a:pPr lvl="0"/>
            <a:r>
              <a:rPr lang="en-IN" b="1" dirty="0"/>
              <a:t>Inputs:</a:t>
            </a:r>
            <a:r>
              <a:rPr lang="en-IN" dirty="0"/>
              <a:t> A, B </a:t>
            </a:r>
            <a:endParaRPr lang="en-IN" dirty="0"/>
          </a:p>
          <a:p>
            <a:pPr lvl="0"/>
            <a:r>
              <a:rPr lang="en-IN" b="1" dirty="0"/>
              <a:t>Outputs:</a:t>
            </a:r>
            <a:r>
              <a:rPr lang="en-IN" dirty="0"/>
              <a:t> Sum, Carry </a:t>
            </a:r>
            <a:endParaRPr lang="en-IN" dirty="0"/>
          </a:p>
          <a:p>
            <a:pPr lvl="0"/>
            <a:r>
              <a:rPr lang="en-IN" dirty="0"/>
              <a:t>Logic equations: </a:t>
            </a:r>
            <a:endParaRPr lang="en-IN" dirty="0"/>
          </a:p>
          <a:p>
            <a:pPr lvl="1"/>
            <a:r>
              <a:rPr lang="en-IN" b="1" dirty="0"/>
              <a:t>Sum = A ⊕ B</a:t>
            </a:r>
            <a:r>
              <a:rPr lang="en-IN" dirty="0"/>
              <a:t> </a:t>
            </a:r>
            <a:endParaRPr lang="en-IN" dirty="0"/>
          </a:p>
          <a:p>
            <a:pPr lvl="1"/>
            <a:r>
              <a:rPr lang="en-IN" b="1" dirty="0"/>
              <a:t>Carry = A · B</a:t>
            </a:r>
            <a:r>
              <a:rPr lang="en-IN" dirty="0"/>
              <a:t> </a:t>
            </a:r>
            <a:endParaRPr lang="en-IN" dirty="0"/>
          </a:p>
          <a:p>
            <a:pPr lvl="0"/>
            <a:r>
              <a:rPr lang="en-IN" dirty="0"/>
              <a:t>It does not have a Carry-in input.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9667" y="1625579"/>
            <a:ext cx="3284061" cy="235798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33164" y="4287051"/>
            <a:ext cx="2758830" cy="154648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6000" dirty="0"/>
              <a:t>FULL ADDER</a:t>
            </a:r>
            <a:endParaRPr lang="en-IN" sz="6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dirty="0"/>
              <a:t>A Full Adder adds three 1-bit inputs. </a:t>
            </a:r>
            <a:endParaRPr lang="en-IN" dirty="0"/>
          </a:p>
          <a:p>
            <a:pPr lvl="0"/>
            <a:r>
              <a:rPr lang="en-IN" b="1" dirty="0"/>
              <a:t>Inputs:</a:t>
            </a:r>
            <a:r>
              <a:rPr lang="en-IN" dirty="0"/>
              <a:t> A, B, Cin </a:t>
            </a:r>
            <a:endParaRPr lang="en-IN" dirty="0"/>
          </a:p>
          <a:p>
            <a:pPr lvl="0"/>
            <a:r>
              <a:rPr lang="en-IN" b="1" dirty="0"/>
              <a:t>Outputs:</a:t>
            </a:r>
            <a:r>
              <a:rPr lang="en-IN" dirty="0"/>
              <a:t> Sum, Cout </a:t>
            </a:r>
            <a:endParaRPr lang="en-IN" dirty="0"/>
          </a:p>
          <a:p>
            <a:pPr lvl="0"/>
            <a:r>
              <a:rPr lang="en-IN" dirty="0"/>
              <a:t>It can be constructed using: </a:t>
            </a:r>
            <a:endParaRPr lang="en-IN" dirty="0"/>
          </a:p>
          <a:p>
            <a:pPr lvl="1"/>
            <a:r>
              <a:rPr lang="en-IN" dirty="0"/>
              <a:t>Two Half Adders </a:t>
            </a:r>
            <a:endParaRPr lang="en-IN" dirty="0"/>
          </a:p>
          <a:p>
            <a:pPr lvl="1"/>
            <a:r>
              <a:rPr lang="en-IN" dirty="0"/>
              <a:t>One OR gate </a:t>
            </a:r>
            <a:endParaRPr lang="en-IN" dirty="0"/>
          </a:p>
          <a:p>
            <a:r>
              <a:rPr lang="en-IN" b="1" dirty="0"/>
              <a:t>Logic Equations</a:t>
            </a:r>
            <a:endParaRPr lang="en-IN" b="1" dirty="0"/>
          </a:p>
          <a:p>
            <a:r>
              <a:rPr lang="en-IN" b="1" dirty="0"/>
              <a:t>Sum = A ⊕ B ⊕ Cin</a:t>
            </a:r>
            <a:endParaRPr lang="en-IN" dirty="0"/>
          </a:p>
          <a:p>
            <a:r>
              <a:rPr lang="en-IN" b="1" dirty="0"/>
              <a:t>Cout = AB + Cin(A ⊕ B)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74267" y="821267"/>
            <a:ext cx="4766733" cy="26875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1653" y="3788182"/>
            <a:ext cx="2728669" cy="286360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4-BIT RIPPLE-CARRY ADDER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2" y="2142067"/>
            <a:ext cx="6053666" cy="3649133"/>
          </a:xfrm>
        </p:spPr>
        <p:txBody>
          <a:bodyPr/>
          <a:lstStyle/>
          <a:p>
            <a:pPr lvl="0"/>
            <a:r>
              <a:rPr lang="en-IN" dirty="0"/>
              <a:t>A 4-bit Ripple-Carry Adder uses </a:t>
            </a:r>
            <a:r>
              <a:rPr lang="en-IN" b="1" dirty="0"/>
              <a:t>four Full Adders</a:t>
            </a:r>
            <a:r>
              <a:rPr lang="en-IN" dirty="0"/>
              <a:t>. </a:t>
            </a:r>
            <a:endParaRPr lang="en-IN" dirty="0"/>
          </a:p>
          <a:p>
            <a:pPr lvl="0"/>
            <a:r>
              <a:rPr lang="en-IN" dirty="0"/>
              <a:t>Each Full Adder handles one bit. </a:t>
            </a:r>
            <a:endParaRPr lang="en-IN" dirty="0"/>
          </a:p>
          <a:p>
            <a:pPr lvl="0"/>
            <a:r>
              <a:rPr lang="en-IN" dirty="0"/>
              <a:t>The carry output of one stage becomes the carry input of the next stage. </a:t>
            </a:r>
            <a:endParaRPr lang="en-IN" dirty="0"/>
          </a:p>
          <a:p>
            <a:pPr lvl="0"/>
            <a:r>
              <a:rPr lang="en-IN" dirty="0"/>
              <a:t>The carry propagates from the least significant bit to the most significant bit. </a:t>
            </a:r>
            <a:endParaRPr lang="en-IN" dirty="0"/>
          </a:p>
          <a:p>
            <a:pPr lvl="0"/>
            <a:r>
              <a:rPr lang="en-IN" dirty="0"/>
              <a:t>This propagation causes a </a:t>
            </a:r>
            <a:r>
              <a:rPr lang="en-IN" b="1" dirty="0"/>
              <a:t>delay</a:t>
            </a:r>
            <a:r>
              <a:rPr lang="en-IN" dirty="0"/>
              <a:t> in larger adders.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8484" y="980025"/>
            <a:ext cx="3548742" cy="535304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BINARY SUBTRACTION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8068" y="1962455"/>
            <a:ext cx="5757332" cy="364913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Subtraction Using Two's Complement</a:t>
            </a:r>
            <a:endParaRPr lang="en-IN" b="1" dirty="0"/>
          </a:p>
          <a:p>
            <a:pPr lvl="0"/>
            <a:r>
              <a:rPr lang="en-IN" dirty="0"/>
              <a:t>Binary subtraction can be performed using an adder. </a:t>
            </a:r>
            <a:endParaRPr lang="en-IN" dirty="0"/>
          </a:p>
          <a:p>
            <a:pPr lvl="0"/>
            <a:r>
              <a:rPr lang="en-IN" dirty="0"/>
              <a:t>Two's complement is used to represent the negative value. </a:t>
            </a:r>
            <a:endParaRPr lang="en-IN" dirty="0"/>
          </a:p>
          <a:p>
            <a:pPr lvl="0"/>
            <a:r>
              <a:rPr lang="en-IN" dirty="0"/>
              <a:t>To obtain the two's complement: </a:t>
            </a:r>
            <a:endParaRPr lang="en-IN" dirty="0"/>
          </a:p>
          <a:p>
            <a:pPr lvl="1"/>
            <a:r>
              <a:rPr lang="en-IN" dirty="0"/>
              <a:t>Invert all bits. </a:t>
            </a:r>
            <a:endParaRPr lang="en-IN" dirty="0"/>
          </a:p>
          <a:p>
            <a:pPr lvl="1"/>
            <a:r>
              <a:rPr lang="en-IN" dirty="0"/>
              <a:t>Add 1. 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7213600" y="2523067"/>
            <a:ext cx="333586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Formula</a:t>
            </a:r>
            <a:endParaRPr lang="en-IN" b="1" dirty="0"/>
          </a:p>
          <a:p>
            <a:r>
              <a:rPr lang="en-IN" b="1" dirty="0"/>
              <a:t>A − B = A + (Two's Complement of B)</a:t>
            </a:r>
            <a:endParaRPr lang="en-IN" dirty="0"/>
          </a:p>
          <a:p>
            <a:r>
              <a:rPr lang="en-IN" b="1" dirty="0"/>
              <a:t>Example</a:t>
            </a:r>
            <a:endParaRPr lang="en-IN" b="1" dirty="0"/>
          </a:p>
          <a:p>
            <a:r>
              <a:rPr lang="en-IN" b="1" dirty="0"/>
              <a:t>0101 − 0011</a:t>
            </a:r>
            <a:endParaRPr lang="en-IN" dirty="0"/>
          </a:p>
          <a:p>
            <a:r>
              <a:rPr lang="en-IN" dirty="0"/>
              <a:t>Two's complement of 0011:</a:t>
            </a:r>
            <a:endParaRPr lang="en-IN" dirty="0"/>
          </a:p>
          <a:p>
            <a:r>
              <a:rPr lang="en-IN" b="1" dirty="0"/>
              <a:t>1101</a:t>
            </a:r>
            <a:endParaRPr lang="en-IN" dirty="0"/>
          </a:p>
          <a:p>
            <a:r>
              <a:rPr lang="en-IN" dirty="0"/>
              <a:t>Therefore:</a:t>
            </a:r>
            <a:endParaRPr lang="en-IN" dirty="0"/>
          </a:p>
          <a:p>
            <a:r>
              <a:rPr lang="en-IN" b="1" dirty="0"/>
              <a:t>0101 + 1101 = 0010</a:t>
            </a:r>
            <a:br>
              <a:rPr lang="en-IN" dirty="0"/>
            </a:br>
            <a:r>
              <a:rPr lang="en-IN" dirty="0"/>
              <a:t>(discarding the final carry)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4-BIT ADDER-SUBTRACTOR</a:t>
            </a:r>
            <a:endParaRPr lang="en-IN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13933" y="5151120"/>
          <a:ext cx="3273424" cy="1097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6712"/>
                <a:gridCol w="1636712"/>
              </a:tblGrid>
              <a:tr h="20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M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/>
                        <a:t>Operation</a:t>
                      </a:r>
                      <a:endParaRPr lang="en-IN" sz="1800"/>
                    </a:p>
                  </a:txBody>
                  <a:tcPr anchor="ctr"/>
                </a:tc>
              </a:tr>
              <a:tr h="20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0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 + B</a:t>
                      </a:r>
                      <a:endParaRPr lang="en-IN" sz="1800" dirty="0"/>
                    </a:p>
                  </a:txBody>
                  <a:tcPr anchor="ctr"/>
                </a:tc>
              </a:tr>
              <a:tr h="2096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1</a:t>
                      </a:r>
                      <a:endParaRPr lang="en-IN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dirty="0"/>
                        <a:t>A − B</a:t>
                      </a:r>
                      <a:endParaRPr lang="en-IN" sz="1800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6600" y="1848067"/>
            <a:ext cx="53594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same circuit can perform both addition and subtraction. 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XOR gates are placed before the B inputs. </a:t>
            </a:r>
            <a:endParaRPr lang="en-IN" dirty="0"/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 control input </a:t>
            </a:r>
            <a:r>
              <a:rPr lang="en-IN" b="1" dirty="0"/>
              <a:t>M</a:t>
            </a:r>
            <a:r>
              <a:rPr lang="en-IN" dirty="0"/>
              <a:t> selects the operation. </a:t>
            </a:r>
            <a:endParaRPr lang="en-IN" dirty="0"/>
          </a:p>
          <a:p>
            <a:pPr>
              <a:buNone/>
            </a:pPr>
            <a:r>
              <a:rPr lang="en-IN" b="1" dirty="0"/>
              <a:t>Working</a:t>
            </a:r>
            <a:endParaRPr lang="en-IN" b="1" dirty="0"/>
          </a:p>
          <a:p>
            <a:pPr>
              <a:buNone/>
            </a:pPr>
            <a:r>
              <a:rPr lang="en-IN" b="1" dirty="0"/>
              <a:t>M = 0:</a:t>
            </a:r>
            <a:endParaRPr lang="en-IN" dirty="0"/>
          </a:p>
          <a:p>
            <a:pPr>
              <a:buNone/>
            </a:pPr>
            <a:r>
              <a:rPr lang="en-IN" dirty="0"/>
              <a:t>B remains unchanged and Cin = 0.</a:t>
            </a:r>
            <a:endParaRPr lang="en-IN" dirty="0"/>
          </a:p>
          <a:p>
            <a:pPr>
              <a:buNone/>
            </a:pPr>
            <a:r>
              <a:rPr lang="en-IN" b="1" dirty="0"/>
              <a:t>M = 1:</a:t>
            </a:r>
            <a:endParaRPr lang="en-IN" dirty="0"/>
          </a:p>
          <a:p>
            <a:pPr>
              <a:buNone/>
            </a:pPr>
            <a:r>
              <a:rPr lang="en-IN" dirty="0"/>
              <a:t>B is complemented and Cin = 1.</a:t>
            </a:r>
            <a:endParaRPr lang="en-IN" dirty="0"/>
          </a:p>
          <a:p>
            <a:pPr>
              <a:buNone/>
            </a:pPr>
            <a:r>
              <a:rPr lang="en-IN" dirty="0"/>
              <a:t>Therefore:</a:t>
            </a:r>
            <a:endParaRPr lang="en-IN" dirty="0"/>
          </a:p>
          <a:p>
            <a:pPr>
              <a:buNone/>
            </a:pPr>
            <a:r>
              <a:rPr lang="en-IN" b="1" dirty="0"/>
              <a:t>A + B' + 1 = A − B</a:t>
            </a:r>
            <a:endParaRPr lang="en-IN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96524" y="1848067"/>
            <a:ext cx="2746343" cy="354040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9441" y="1848067"/>
            <a:ext cx="2846819" cy="35236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ADDER SUBTRACTOR SIMULATION</a:t>
            </a:r>
            <a:endParaRPr lang="en-IN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220232" y="1811867"/>
            <a:ext cx="3317901" cy="42418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707" y="1811867"/>
            <a:ext cx="3157826" cy="4241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MULTIPLEXER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Multiplexer (MUX)</a:t>
            </a:r>
            <a:endParaRPr lang="en-IN" b="1" dirty="0"/>
          </a:p>
          <a:p>
            <a:pPr lvl="0"/>
            <a:r>
              <a:rPr lang="en-IN" dirty="0"/>
              <a:t>A Multiplexer is a </a:t>
            </a:r>
            <a:r>
              <a:rPr lang="en-IN" b="1" dirty="0"/>
              <a:t>data selector</a:t>
            </a:r>
            <a:r>
              <a:rPr lang="en-IN" dirty="0"/>
              <a:t>. </a:t>
            </a:r>
            <a:endParaRPr lang="en-IN" dirty="0"/>
          </a:p>
          <a:p>
            <a:pPr lvl="0"/>
            <a:r>
              <a:rPr lang="en-IN" dirty="0"/>
              <a:t>It selects one input from multiple inputs. </a:t>
            </a:r>
            <a:endParaRPr lang="en-IN" dirty="0"/>
          </a:p>
          <a:p>
            <a:pPr lvl="0"/>
            <a:r>
              <a:rPr lang="en-IN" dirty="0"/>
              <a:t>A 2:1 MUX has: </a:t>
            </a:r>
            <a:endParaRPr lang="en-IN" dirty="0"/>
          </a:p>
          <a:p>
            <a:pPr lvl="1"/>
            <a:r>
              <a:rPr lang="en-IN" dirty="0"/>
              <a:t>2 data inputs: I0, I1 </a:t>
            </a:r>
            <a:endParaRPr lang="en-IN" dirty="0"/>
          </a:p>
          <a:p>
            <a:pPr lvl="1"/>
            <a:r>
              <a:rPr lang="en-IN" dirty="0"/>
              <a:t>1 select input: S </a:t>
            </a:r>
            <a:endParaRPr lang="en-IN" dirty="0"/>
          </a:p>
          <a:p>
            <a:pPr lvl="1"/>
            <a:r>
              <a:rPr lang="en-IN" dirty="0"/>
              <a:t>1 output: Y</a:t>
            </a:r>
            <a:endParaRPr lang="en-IN" dirty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0" y="2572494"/>
            <a:ext cx="3278445" cy="2207199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DECODER &amp; COMPARATOR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2" y="2717800"/>
            <a:ext cx="4588932" cy="3073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Decoder</a:t>
            </a:r>
            <a:endParaRPr lang="en-IN" b="1" dirty="0"/>
          </a:p>
          <a:p>
            <a:pPr lvl="0"/>
            <a:r>
              <a:rPr lang="en-IN" dirty="0"/>
              <a:t>A decoder converts binary input into one of several output lines. </a:t>
            </a:r>
            <a:endParaRPr lang="en-IN" dirty="0"/>
          </a:p>
          <a:p>
            <a:pPr lvl="0"/>
            <a:r>
              <a:rPr lang="en-IN" dirty="0"/>
              <a:t>For </a:t>
            </a:r>
            <a:r>
              <a:rPr lang="en-IN" b="1" dirty="0"/>
              <a:t>n input lines</a:t>
            </a:r>
            <a:r>
              <a:rPr lang="en-IN" dirty="0"/>
              <a:t>, it can have up to </a:t>
            </a:r>
            <a:r>
              <a:rPr lang="en-IN" b="1" dirty="0"/>
              <a:t>2ⁿ outputs</a:t>
            </a:r>
            <a:r>
              <a:rPr lang="en-IN" dirty="0"/>
              <a:t>. </a:t>
            </a:r>
            <a:endParaRPr lang="en-IN" dirty="0"/>
          </a:p>
          <a:p>
            <a:pPr lvl="0"/>
            <a:r>
              <a:rPr lang="en-IN" dirty="0"/>
              <a:t>Used in: </a:t>
            </a:r>
            <a:endParaRPr lang="en-IN" dirty="0"/>
          </a:p>
          <a:p>
            <a:pPr lvl="1"/>
            <a:r>
              <a:rPr lang="en-IN" dirty="0"/>
              <a:t>Instruction decoding </a:t>
            </a:r>
            <a:endParaRPr lang="en-IN" dirty="0"/>
          </a:p>
          <a:p>
            <a:pPr lvl="1"/>
            <a:r>
              <a:rPr lang="en-IN" dirty="0"/>
              <a:t>Memory selection </a:t>
            </a:r>
            <a:endParaRPr lang="en-IN" dirty="0"/>
          </a:p>
          <a:p>
            <a:pPr lvl="1"/>
            <a:r>
              <a:rPr lang="en-IN" dirty="0"/>
              <a:t>Control circuits </a:t>
            </a:r>
            <a:endParaRPr lang="en-IN" dirty="0"/>
          </a:p>
          <a:p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5884333" y="2717800"/>
            <a:ext cx="4834467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Comparator</a:t>
            </a:r>
            <a:endParaRPr lang="en-IN" b="1" dirty="0"/>
          </a:p>
          <a:p>
            <a:pPr lvl="0"/>
            <a:r>
              <a:rPr lang="en-IN" dirty="0"/>
              <a:t>A comparator compares two binary numbers. </a:t>
            </a:r>
            <a:endParaRPr lang="en-IN" dirty="0"/>
          </a:p>
          <a:p>
            <a:pPr lvl="0"/>
            <a:r>
              <a:rPr lang="en-IN" dirty="0"/>
              <a:t>It determines whether: </a:t>
            </a:r>
            <a:endParaRPr lang="en-IN" dirty="0"/>
          </a:p>
          <a:p>
            <a:pPr lvl="1"/>
            <a:r>
              <a:rPr lang="en-IN" b="1" dirty="0"/>
              <a:t>A &gt; B</a:t>
            </a:r>
            <a:r>
              <a:rPr lang="en-IN" dirty="0"/>
              <a:t> </a:t>
            </a:r>
            <a:endParaRPr lang="en-IN" dirty="0"/>
          </a:p>
          <a:p>
            <a:pPr lvl="1"/>
            <a:r>
              <a:rPr lang="en-IN" b="1" dirty="0"/>
              <a:t>A = B</a:t>
            </a:r>
            <a:r>
              <a:rPr lang="en-IN" dirty="0"/>
              <a:t> </a:t>
            </a:r>
            <a:endParaRPr lang="en-IN" dirty="0"/>
          </a:p>
          <a:p>
            <a:pPr lvl="1"/>
            <a:r>
              <a:rPr lang="en-IN" b="1" dirty="0"/>
              <a:t>A &lt; B</a:t>
            </a:r>
            <a:r>
              <a:rPr lang="en-IN" dirty="0"/>
              <a:t> </a:t>
            </a:r>
            <a:endParaRPr lang="en-IN" dirty="0"/>
          </a:p>
          <a:p>
            <a:pPr lvl="0"/>
            <a:r>
              <a:rPr lang="en-IN" dirty="0"/>
              <a:t>Comparators are useful for making decisions and supporting branch operations in CPUs.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Arithmetic Logic Unit (ALU)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ALU is the part of the CPU that performs arithmetic and logical operations.</a:t>
            </a:r>
            <a:endParaRPr lang="en-IN" dirty="0"/>
          </a:p>
          <a:p>
            <a:r>
              <a:rPr lang="en-IN" dirty="0"/>
              <a:t>It can perform operations such as: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               Addition 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                Subtraction 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                AND 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                 OR </a:t>
            </a:r>
            <a:endParaRPr lang="en-IN" dirty="0"/>
          </a:p>
          <a:p>
            <a:pPr marL="0" lvl="0" indent="0">
              <a:buNone/>
            </a:pPr>
            <a:r>
              <a:rPr lang="en-IN" dirty="0"/>
              <a:t>               Comparison</a:t>
            </a:r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4190" y="869315"/>
            <a:ext cx="4079240" cy="1307465"/>
          </a:xfrm>
        </p:spPr>
        <p:txBody>
          <a:bodyPr/>
          <a:lstStyle/>
          <a:p>
            <a:endParaRPr lang="en-IN"/>
          </a:p>
        </p:txBody>
      </p:sp>
      <p:pic>
        <p:nvPicPr>
          <p:cNvPr id="4" name="Content Placeholder 3" descr="1,900+ Thank You Presentation Stock Photos and Royalty-Free Pictures -  iStock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1448976" y="846667"/>
            <a:ext cx="8605073" cy="483683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rk Gradient">
  <a:themeElements>
    <a:clrScheme name="Dark Gradient">
      <a:dk1>
        <a:sysClr val="windowText" lastClr="000000"/>
      </a:dk1>
      <a:lt1>
        <a:sysClr val="window" lastClr="FFFFFF"/>
      </a:lt1>
      <a:dk2>
        <a:srgbClr val="0B0C12"/>
      </a:dk2>
      <a:lt2>
        <a:srgbClr val="ECF0FB"/>
      </a:lt2>
      <a:accent1>
        <a:srgbClr val="4970FF"/>
      </a:accent1>
      <a:accent2>
        <a:srgbClr val="712ED5"/>
      </a:accent2>
      <a:accent3>
        <a:srgbClr val="00C4B6"/>
      </a:accent3>
      <a:accent4>
        <a:srgbClr val="3633D1"/>
      </a:accent4>
      <a:accent5>
        <a:srgbClr val="4AB1FE"/>
      </a:accent5>
      <a:accent6>
        <a:srgbClr val="9E2FD5"/>
      </a:accent6>
      <a:hlink>
        <a:srgbClr val="4970FF"/>
      </a:hlink>
      <a:folHlink>
        <a:srgbClr val="8E24FF"/>
      </a:folHlink>
    </a:clrScheme>
    <a:fontScheme name="Custom 53">
      <a:majorFont>
        <a:latin typeface="Arial Nova Light"/>
        <a:ea typeface=""/>
        <a:cs typeface=""/>
      </a:majorFont>
      <a:minorFont>
        <a:latin typeface="Arial Nova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Dark Gradient</Template>
  <TotalTime>0</TotalTime>
  <Words>2818</Words>
  <Application>WPS Presentation</Application>
  <PresentationFormat>Widescreen</PresentationFormat>
  <Paragraphs>153</Paragraphs>
  <Slides>13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2" baseType="lpstr">
      <vt:lpstr>Arial</vt:lpstr>
      <vt:lpstr>SimSun</vt:lpstr>
      <vt:lpstr>Wingdings</vt:lpstr>
      <vt:lpstr>Aptos</vt:lpstr>
      <vt:lpstr>Arial Nova Light</vt:lpstr>
      <vt:lpstr>Microsoft YaHei</vt:lpstr>
      <vt:lpstr>Arial Unicode MS</vt:lpstr>
      <vt:lpstr>Segoe UI</vt:lpstr>
      <vt:lpstr>Dark Gradient</vt:lpstr>
      <vt:lpstr>DESIGN AND SIMULATION OF ADDER AND SUBTRACTOR USING LOGISIM</vt:lpstr>
      <vt:lpstr>COMBINATIONAL LOGIC</vt:lpstr>
      <vt:lpstr>K-MAP SIMPLIFICATION</vt:lpstr>
      <vt:lpstr>HALF ADDER</vt:lpstr>
      <vt:lpstr>FULL ADDER</vt:lpstr>
      <vt:lpstr>4-BIT RIPPLE-CARRY ADDER</vt:lpstr>
      <vt:lpstr>BINARY SUBTRACTION</vt:lpstr>
      <vt:lpstr>4-BIT ADDER-SUBTRACTOR</vt:lpstr>
      <vt:lpstr>ADDER SUBTRACTOR SIMULATION</vt:lpstr>
      <vt:lpstr>MULTIPLEXER</vt:lpstr>
      <vt:lpstr>DECODER &amp; COMPARATOR</vt:lpstr>
      <vt:lpstr>Arithmetic Logic Unit (ALU)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sahasradhanalakoti58@outlook.com</dc:creator>
  <cp:lastModifiedBy>santo</cp:lastModifiedBy>
  <cp:revision>2</cp:revision>
  <dcterms:created xsi:type="dcterms:W3CDTF">2026-09-23T14:36:00Z</dcterms:created>
  <dcterms:modified xsi:type="dcterms:W3CDTF">2026-09-23T18:36:30Z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26C91359B7924ADD817C90C51F6506E3_12</vt:lpwstr>
  </property>
  <property fmtid="{D5CDD505-2E9C-101B-9397-08002B2CF9AE}" pid="3" name="KSOProductBuildVer">
    <vt:lpwstr>2057-12.2.0.23206</vt:lpwstr>
  </property>
</Properties>
</file>