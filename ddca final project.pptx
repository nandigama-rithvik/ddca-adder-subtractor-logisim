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8" r:id="rId6"/>
    <p:sldId id="259" r:id="rId7"/>
    <p:sldId id="260" r:id="rId8"/>
    <p:sldId id="261" r:id="rId9"/>
    <p:sldId id="262" r:id="rId10"/>
  </p:sldIdLst>
  <p:sldSz cx="12191365" cy="6858000"/>
  <p:notesSz cx="6858000" cy="12191365"/>
  <p:embeddedFontLst>
    <p:embeddedFont>
      <p:font typeface="IBM Plex Mono SemiBold" panose="020B0709050203000203" pitchFamily="34" charset="0"/>
      <p:bold r:id="rId14"/>
    </p:embeddedFont>
    <p:embeddedFont>
      <p:font typeface="IBM Plex Mono SemiBold" panose="020B0709050203000203" pitchFamily="34" charset="-122"/>
      <p:bold r:id="rId15"/>
    </p:embeddedFont>
    <p:embeddedFont>
      <p:font typeface="IBM Plex Mono SemiBold" panose="020B0709050203000203" pitchFamily="34" charset="-120"/>
      <p:bold r:id="rId16"/>
    </p:embeddedFont>
    <p:embeddedFont>
      <p:font typeface="Sora ExtraBold" pitchFamily="34" charset="0"/>
      <p:bold r:id="rId17"/>
    </p:embeddedFont>
    <p:embeddedFont>
      <p:font typeface="Sora ExtraBold" pitchFamily="34" charset="-122"/>
      <p:bold r:id="rId18"/>
    </p:embeddedFont>
    <p:embeddedFont>
      <p:font typeface="Sora ExtraBold" pitchFamily="34" charset="-120"/>
      <p:bold r:id="rId19"/>
    </p:embeddedFont>
    <p:embeddedFont>
      <p:font typeface="Nunito Sans Medium" pitchFamily="34" charset="0"/>
      <p:regular r:id="rId20"/>
    </p:embeddedFont>
    <p:embeddedFont>
      <p:font typeface="Nunito Sans Medium" pitchFamily="34" charset="-122"/>
      <p:regular r:id="rId21"/>
    </p:embeddedFont>
    <p:embeddedFont>
      <p:font typeface="Nunito Sans Medium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font" Target="fonts/font13.fntdata"/><Relationship Id="rId25" Type="http://schemas.openxmlformats.org/officeDocument/2006/relationships/font" Target="fonts/font12.fntdata"/><Relationship Id="rId24" Type="http://schemas.openxmlformats.org/officeDocument/2006/relationships/font" Target="fonts/font11.fntdata"/><Relationship Id="rId23" Type="http://schemas.openxmlformats.org/officeDocument/2006/relationships/font" Target="fonts/font10.fntdata"/><Relationship Id="rId22" Type="http://schemas.openxmlformats.org/officeDocument/2006/relationships/font" Target="fonts/font9.fntdata"/><Relationship Id="rId21" Type="http://schemas.openxmlformats.org/officeDocument/2006/relationships/font" Target="fonts/font8.fntdata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E8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8E8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685800"/>
            <a:ext cx="9265708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DIGITAL LOGIC · DEPARTMENT OF CSE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027601" y="5971540"/>
            <a:ext cx="2164105" cy="852488"/>
          </a:xfrm>
          <a:prstGeom prst="rect">
            <a:avLst/>
          </a:prstGeom>
          <a:solidFill>
            <a:srgbClr val="1760C6"/>
          </a:solidFill>
        </p:spPr>
      </p:sp>
      <p:sp>
        <p:nvSpPr>
          <p:cNvPr id="4" name="Text 2"/>
          <p:cNvSpPr/>
          <p:nvPr/>
        </p:nvSpPr>
        <p:spPr>
          <a:xfrm>
            <a:off x="10756940" y="6123940"/>
            <a:ext cx="705428" cy="5476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FFFFFF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LOGISIM</a:t>
            </a:r>
            <a:endParaRPr lang="en-US" sz="115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FFFFFF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DESIGN</a:t>
            </a:r>
            <a:endParaRPr lang="en-US" sz="115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FFFFFF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STUDY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06389" y="2099846"/>
            <a:ext cx="11277318" cy="13846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5800" kern="0" spc="-145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DESIGN AND SIMULATION</a:t>
            </a:r>
            <a:endParaRPr lang="en-US" sz="5800" dirty="0"/>
          </a:p>
          <a:p>
            <a:pPr marL="0" indent="0" algn="l">
              <a:lnSpc>
                <a:spcPct val="78000"/>
              </a:lnSpc>
              <a:buNone/>
            </a:pPr>
            <a:r>
              <a:rPr lang="en-US" sz="5800" kern="0" spc="-145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OF ADDER AND SUBTRACTOR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189" y="3390563"/>
            <a:ext cx="11277318" cy="492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68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USING LOGISIM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189" y="4178062"/>
            <a:ext cx="11734506" cy="302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A gate-level path from binary equations to observable 0/1 signals.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189" y="5433417"/>
            <a:ext cx="5298347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189" y="5749330"/>
            <a:ext cx="5298347" cy="302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Department of CSE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02405" y="5058132"/>
            <a:ext cx="6588655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TEAM MEMBERS + COLLEGE IDS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91280" y="5262920"/>
            <a:ext cx="6588655" cy="302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AU" alt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2620030483_Rithvik</a:t>
            </a:r>
            <a:endParaRPr lang="en-AU" altLang="en-US" sz="1700" dirty="0">
              <a:solidFill>
                <a:srgbClr val="17324D"/>
              </a:solidFill>
              <a:latin typeface="Nunito Sans Medium" pitchFamily="34" charset="0"/>
              <a:ea typeface="Nunito Sans Medium" pitchFamily="34" charset="-122"/>
              <a:cs typeface="Nunito Sans Medium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altLang="en-GB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2620030486_Bavesh</a:t>
            </a:r>
            <a:endParaRPr lang="en-US" altLang="en-GB" sz="1700" dirty="0">
              <a:solidFill>
                <a:srgbClr val="17324D"/>
              </a:solidFill>
              <a:latin typeface="Nunito Sans Medium" pitchFamily="34" charset="0"/>
              <a:ea typeface="Nunito Sans Medium" pitchFamily="34" charset="-122"/>
              <a:cs typeface="Nunito Sans Medium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altLang="en-GB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2620030484_ Rithwik Patrudu</a:t>
            </a:r>
            <a:endParaRPr lang="en-US" altLang="en-GB" sz="1700" dirty="0">
              <a:solidFill>
                <a:srgbClr val="17324D"/>
              </a:solidFill>
              <a:latin typeface="Nunito Sans Medium" pitchFamily="34" charset="0"/>
              <a:ea typeface="Nunito Sans Medium" pitchFamily="34" charset="-122"/>
              <a:cs typeface="Nunito Sans Medium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altLang="en-GB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2620030488_ Sravani reddy</a:t>
            </a:r>
            <a:endParaRPr lang="en-US" altLang="en-GB" sz="1700" dirty="0">
              <a:solidFill>
                <a:srgbClr val="17324D"/>
              </a:solidFill>
              <a:latin typeface="Nunito Sans Medium" pitchFamily="34" charset="0"/>
              <a:ea typeface="Nunito Sans Medium" pitchFamily="34" charset="-122"/>
              <a:cs typeface="Nunito Sans Medium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altLang="en-GB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2620030411_ Sahasra Dhanalakoti</a:t>
            </a:r>
            <a:endParaRPr lang="en-US" altLang="en-GB" sz="1700" dirty="0">
              <a:solidFill>
                <a:srgbClr val="17324D"/>
              </a:solidFill>
              <a:latin typeface="Nunito Sans Medium" pitchFamily="34" charset="0"/>
              <a:ea typeface="Nunito Sans Medium" pitchFamily="34" charset="-122"/>
              <a:cs typeface="Nunito Sans Medium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AU" alt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 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189" y="6308725"/>
            <a:ext cx="3721503" cy="38100"/>
          </a:xfrm>
          <a:prstGeom prst="roundRect">
            <a:avLst>
              <a:gd name="adj" fmla="val 49999"/>
            </a:avLst>
          </a:prstGeom>
          <a:solidFill>
            <a:srgbClr val="1760C6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76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0" spc="100" dirty="0">
                <a:solidFill>
                  <a:srgbClr val="17324D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FOUNDATION · BINARY ARITHMETIC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19138"/>
            <a:ext cx="11277318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650" kern="0" spc="-66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BINARY ARITHMETIC STARTS WITH TWO SIMPLE OPERATIONS</a:t>
            </a:r>
            <a:endParaRPr lang="en-US" sz="3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2061766"/>
            <a:ext cx="416708" cy="4167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10845" y="2107605"/>
            <a:ext cx="2265306" cy="407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500" dirty="0">
                <a:solidFill>
                  <a:srgbClr val="17324D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Addition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310845" y="2666206"/>
            <a:ext cx="2265306" cy="8596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Combine two bits and pass any overflow forward as </a:t>
            </a:r>
            <a:r>
              <a:rPr lang="en-US" sz="165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carry</a:t>
            </a:r>
            <a:r>
              <a:rPr lang="en-US" sz="16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8547" y="2061766"/>
            <a:ext cx="416708" cy="4167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53610" y="2107605"/>
            <a:ext cx="2265405" cy="407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500" dirty="0">
                <a:solidFill>
                  <a:srgbClr val="17324D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Subtraction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4353610" y="2666206"/>
            <a:ext cx="2265405" cy="11461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Compare the minuend and subtrahend, passing any deficit forward as </a:t>
            </a:r>
            <a:r>
              <a:rPr lang="en-US" sz="165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borrow</a:t>
            </a:r>
            <a:r>
              <a:rPr lang="en-US" sz="16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83" y="3918942"/>
            <a:ext cx="416708" cy="4167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10845" y="3964781"/>
            <a:ext cx="5308170" cy="407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500" dirty="0">
                <a:solidFill>
                  <a:srgbClr val="17324D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Building blocks</a:t>
            </a:r>
            <a:endParaRPr lang="en-US" sz="2500" dirty="0"/>
          </a:p>
        </p:txBody>
      </p:sp>
      <p:sp>
        <p:nvSpPr>
          <p:cNvPr id="12" name="Text 7"/>
          <p:cNvSpPr/>
          <p:nvPr/>
        </p:nvSpPr>
        <p:spPr>
          <a:xfrm>
            <a:off x="1310845" y="4523383"/>
            <a:ext cx="5308170" cy="5730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Half circuits take two inputs; full circuits add </a:t>
            </a:r>
            <a:r>
              <a:rPr lang="en-US" sz="165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Cin</a:t>
            </a:r>
            <a:r>
              <a:rPr lang="en-US" sz="16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or </a:t>
            </a:r>
            <a:r>
              <a:rPr lang="en-US" sz="165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Bin</a:t>
            </a:r>
            <a:r>
              <a:rPr lang="en-US" sz="16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for wider operands.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685783" y="5845770"/>
            <a:ext cx="1957835" cy="38100"/>
          </a:xfrm>
          <a:prstGeom prst="roundRect">
            <a:avLst>
              <a:gd name="adj" fmla="val 49999"/>
            </a:avLst>
          </a:prstGeom>
          <a:solidFill>
            <a:srgbClr val="1760C6"/>
          </a:solidFill>
        </p:spPr>
      </p:sp>
      <p:sp>
        <p:nvSpPr>
          <p:cNvPr id="14" name="Text 9"/>
          <p:cNvSpPr/>
          <p:nvPr/>
        </p:nvSpPr>
        <p:spPr>
          <a:xfrm>
            <a:off x="685783" y="6060083"/>
            <a:ext cx="5933232" cy="5730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The design goal is one correct result bit—and the carry or borrow needed by the next stage.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6847840" y="1878965"/>
            <a:ext cx="5264150" cy="5000625"/>
          </a:xfrm>
          <a:custGeom>
            <a:avLst/>
            <a:gdLst/>
            <a:ahLst/>
            <a:cxnLst/>
            <a:rect l="l" t="t" r="r" b="b"/>
            <a:pathLst>
              <a:path w="4886897" h="4982766">
                <a:moveTo>
                  <a:pt x="0" y="0"/>
                </a:moveTo>
                <a:lnTo>
                  <a:pt x="4877373" y="0"/>
                </a:lnTo>
                <a:arcTo wR="9525" hR="9525" stAng="16200000" swAng="5400000"/>
                <a:lnTo>
                  <a:pt x="4886897" y="4973241"/>
                </a:lnTo>
                <a:arcTo wR="9525" hR="9525" stAng="0" swAng="5400000"/>
                <a:lnTo>
                  <a:pt x="0" y="4982766"/>
                </a:lnTo>
                <a:lnTo>
                  <a:pt x="0" y="0"/>
                </a:lnTo>
                <a:close/>
              </a:path>
            </a:pathLst>
          </a:custGeom>
          <a:solidFill>
            <a:srgbClr val="DEEBFD"/>
          </a:solidFill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203" y="3168055"/>
            <a:ext cx="4274931" cy="240466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841259" y="1879005"/>
            <a:ext cx="12700" cy="4982766"/>
          </a:xfrm>
          <a:prstGeom prst="rect">
            <a:avLst/>
          </a:prstGeom>
          <a:solidFill>
            <a:srgbClr val="BDCFE6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CORE CELL · FULL ADDER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922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68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A FULL ADDER ADDS THREE ONE-BIT INPUTS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1449487"/>
            <a:ext cx="11734506" cy="302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A, B, and carry-in </a:t>
            </a: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Cin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produce Sum </a:t>
            </a: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and carry-out </a:t>
            </a: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Cout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57200" y="1955165"/>
          <a:ext cx="4820920" cy="4389120"/>
        </p:xfrm>
        <a:graphic>
          <a:graphicData uri="http://schemas.openxmlformats.org/drawingml/2006/table">
            <a:tbl>
              <a:tblPr/>
              <a:tblGrid>
                <a:gridCol w="771525"/>
                <a:gridCol w="770890"/>
                <a:gridCol w="964565"/>
                <a:gridCol w="963930"/>
                <a:gridCol w="1350010"/>
              </a:tblGrid>
              <a:tr h="532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0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0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Cin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0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0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Cout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0C6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32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4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4832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45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1955165"/>
            <a:ext cx="6615430" cy="4836795"/>
          </a:xfrm>
          <a:custGeom>
            <a:avLst/>
            <a:gdLst/>
            <a:ahLst/>
            <a:cxnLst/>
            <a:rect l="l" t="t" r="r" b="b"/>
            <a:pathLst>
              <a:path w="6202604" h="4045148">
                <a:moveTo>
                  <a:pt x="0" y="0"/>
                </a:moveTo>
                <a:lnTo>
                  <a:pt x="6193079" y="0"/>
                </a:lnTo>
                <a:arcTo wR="9525" hR="9525" stAng="16200000" swAng="5400000"/>
                <a:lnTo>
                  <a:pt x="6202604" y="4035623"/>
                </a:lnTo>
                <a:arcTo wR="9525" hR="9525" stAng="0" swAng="5400000"/>
                <a:lnTo>
                  <a:pt x="0" y="40451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>
            <a:off x="5785896" y="1954907"/>
            <a:ext cx="6405799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EQUATIONS · GATE-LEVEL FLOW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85896" y="2270820"/>
            <a:ext cx="6405799" cy="2577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Inputs:</a:t>
            </a:r>
            <a:r>
              <a:rPr lang="en-US" sz="14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A, B, and carry-in Cin. </a:t>
            </a:r>
            <a:r>
              <a:rPr lang="en-US" sz="145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Outputs:</a:t>
            </a:r>
            <a:r>
              <a:rPr lang="en-US" sz="14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Sum S and carry-out Cout.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785896" y="2661940"/>
            <a:ext cx="6405799" cy="369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i="1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        </a:t>
            </a:r>
            <a:endParaRPr lang="en-US" sz="2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896" y="2700040"/>
            <a:ext cx="1920331" cy="3168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85896" y="3164780"/>
            <a:ext cx="6405799" cy="3694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i="1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            </a:t>
            </a:r>
            <a:endParaRPr lang="en-US" sz="2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96" y="3202880"/>
            <a:ext cx="2770019" cy="3168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85896" y="3667621"/>
            <a:ext cx="5948611" cy="11644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Gate-level flow:</a:t>
            </a:r>
            <a:r>
              <a:rPr lang="en-US" sz="14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XOR A and B, XOR that result with Cin, then combine the carry paths with AND and OR gates.</a:t>
            </a:r>
            <a:endParaRPr lang="en-US" sz="14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Multi-bit use:</a:t>
            </a:r>
            <a:r>
              <a:rPr lang="en-US" sz="14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chain Cout into the next stage's Cin to cascade for wider operands — the Logisim Adder component exposes both pins.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525552" y="1954907"/>
            <a:ext cx="12700" cy="4045148"/>
          </a:xfrm>
          <a:prstGeom prst="rect">
            <a:avLst/>
          </a:prstGeom>
          <a:solidFill>
            <a:srgbClr val="BDCFE6"/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CORE CELL · FULL SUBTRACTOR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9844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0" spc="-68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A FULL SUBTRACTOR TRACKS DIFFERENCE AND BORROW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1941711"/>
            <a:ext cx="5262728" cy="4877395"/>
          </a:xfrm>
          <a:custGeom>
            <a:avLst/>
            <a:gdLst/>
            <a:ahLst/>
            <a:cxnLst/>
            <a:rect l="l" t="t" r="r" b="b"/>
            <a:pathLst>
              <a:path w="5262728" h="4877395">
                <a:moveTo>
                  <a:pt x="9525" y="0"/>
                </a:moveTo>
                <a:lnTo>
                  <a:pt x="5262728" y="0"/>
                </a:lnTo>
                <a:lnTo>
                  <a:pt x="5262728" y="4877395"/>
                </a:lnTo>
                <a:lnTo>
                  <a:pt x="9525" y="4877395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1760C6"/>
          </a:solidFill>
        </p:spPr>
      </p:sp>
      <p:sp>
        <p:nvSpPr>
          <p:cNvPr id="5" name="Text 3"/>
          <p:cNvSpPr/>
          <p:nvPr/>
        </p:nvSpPr>
        <p:spPr>
          <a:xfrm>
            <a:off x="761981" y="2195711"/>
            <a:ext cx="5161131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FFFFFF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SIGNAL CONTRACT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61981" y="2470348"/>
            <a:ext cx="4551546" cy="4225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Inputs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1981" y="3054846"/>
            <a:ext cx="5161131" cy="2577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A, B, and borrow-in </a:t>
            </a:r>
            <a:r>
              <a:rPr lang="en-US" sz="14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Bin</a:t>
            </a:r>
            <a:r>
              <a:rPr lang="en-US" sz="1450" dirty="0">
                <a:solidFill>
                  <a:srgbClr val="FFFFFF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1981" y="3515816"/>
            <a:ext cx="4551546" cy="4225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Outputs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1981" y="4100314"/>
            <a:ext cx="5161131" cy="2577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Difference </a:t>
            </a:r>
            <a:r>
              <a:rPr lang="en-US" sz="14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D</a:t>
            </a:r>
            <a:r>
              <a:rPr lang="en-US" sz="1450" dirty="0">
                <a:solidFill>
                  <a:srgbClr val="FFFFFF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and borrow-out </a:t>
            </a:r>
            <a:r>
              <a:rPr lang="en-US" sz="14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Bout</a:t>
            </a:r>
            <a:r>
              <a:rPr lang="en-US" sz="1450" dirty="0">
                <a:solidFill>
                  <a:srgbClr val="FFFFFF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61981" y="4545409"/>
            <a:ext cx="1501936" cy="38100"/>
          </a:xfrm>
          <a:prstGeom prst="roundRect">
            <a:avLst>
              <a:gd name="adj" fmla="val 49999"/>
            </a:avLst>
          </a:prstGeom>
          <a:solidFill>
            <a:srgbClr val="FFFFFF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4770834"/>
            <a:ext cx="4551546" cy="371673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1" y="5275858"/>
            <a:ext cx="4551546" cy="3716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1981" y="5739606"/>
            <a:ext cx="4551546" cy="825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25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Two XOR stages form the difference; NOT, AND, and OR gates create the borrow conditions. When </a:t>
            </a:r>
            <a:r>
              <a:rPr lang="en-US" sz="1250" b="1" kern="0" spc="25" dirty="0">
                <a:solidFill>
                  <a:srgbClr val="FFFFFF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Bout = 1</a:t>
            </a:r>
            <a:r>
              <a:rPr lang="en-US" sz="1250" kern="0" spc="25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, this bit borrows from the next higher bit.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973911" y="2022078"/>
            <a:ext cx="6217784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FULL-SUBTRACTOR TRUTH TABLE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974080" y="2338070"/>
          <a:ext cx="6235700" cy="4481195"/>
        </p:xfrm>
        <a:graphic>
          <a:graphicData uri="http://schemas.openxmlformats.org/drawingml/2006/table">
            <a:tbl>
              <a:tblPr/>
              <a:tblGrid>
                <a:gridCol w="997585"/>
                <a:gridCol w="997585"/>
                <a:gridCol w="1122680"/>
                <a:gridCol w="1247140"/>
                <a:gridCol w="1870710"/>
              </a:tblGrid>
              <a:tr h="4997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0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0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Bin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0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0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Bout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0C6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64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7324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700" dirty="0">
                        <a:latin typeface="Nunito Sans" pitchFamily="34" charset="0"/>
                        <a:ea typeface="Nunito Sans" pitchFamily="34" charset="0"/>
                        <a:cs typeface="Nunito Sans" pitchFamily="34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D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5713567" y="1941711"/>
            <a:ext cx="12700" cy="4877395"/>
          </a:xfrm>
          <a:prstGeom prst="rect">
            <a:avLst/>
          </a:prstGeom>
          <a:solidFill>
            <a:srgbClr val="BDCFE6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807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COMBINATIONAL DESIGN · MODE CONTROL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28266"/>
            <a:ext cx="11277318" cy="975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750" kern="0" spc="-68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ONE MODE SIGNAL CAN TURN THE CIRCUIT INTO AN ADDER OR SUBTRACTOR</a:t>
            </a:r>
            <a:endParaRPr lang="en-US" sz="3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4655" y="1703705"/>
            <a:ext cx="5427345" cy="5186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59434" y="2153444"/>
            <a:ext cx="7132261" cy="1807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THE CONTROL IDEA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754642" y="2465090"/>
            <a:ext cx="7284657" cy="3252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800" i="1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      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271" y="2496840"/>
            <a:ext cx="1215399" cy="2801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334" y="2921198"/>
            <a:ext cx="6675072" cy="29627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6000"/>
              </a:lnSpc>
              <a:buSzPct val="100000"/>
              <a:buChar char="•"/>
            </a:pP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Mode M: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M = 0 selects addition; M = 1 selects subtraction.</a:t>
            </a:r>
            <a:endParaRPr lang="en-US" sz="1700" dirty="0"/>
          </a:p>
          <a:p>
            <a:pPr marL="345440" indent="-345440" algn="l">
              <a:lnSpc>
                <a:spcPct val="116000"/>
              </a:lnSpc>
              <a:buSzPct val="100000"/>
              <a:buChar char="•"/>
            </a:pP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Operand control: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XOR each B bit with M, producing B′ = B ⊕ M.</a:t>
            </a:r>
            <a:endParaRPr lang="en-US" sz="1700" dirty="0"/>
          </a:p>
          <a:p>
            <a:pPr marL="345440" indent="-345440" algn="l">
              <a:lnSpc>
                <a:spcPct val="116000"/>
              </a:lnSpc>
              <a:buSzPct val="100000"/>
              <a:buChar char="•"/>
            </a:pP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Carry/borrow control: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set the first carry-in, Cin = M.</a:t>
            </a:r>
            <a:endParaRPr lang="en-US" sz="1700" dirty="0"/>
          </a:p>
          <a:p>
            <a:pPr marL="345440" indent="-345440" algn="l">
              <a:lnSpc>
                <a:spcPct val="116000"/>
              </a:lnSpc>
              <a:buSzPct val="100000"/>
              <a:buChar char="•"/>
            </a:pP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Result: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the same full-adder chain computes A + B (M = 0) or A + two’s-complement B (M = 1).</a:t>
            </a:r>
            <a:endParaRPr lang="en-US" sz="1700" dirty="0"/>
          </a:p>
          <a:p>
            <a:pPr marL="345440" indent="-345440" algn="l">
              <a:lnSpc>
                <a:spcPct val="116000"/>
              </a:lnSpc>
              <a:buSzPct val="100000"/>
              <a:buChar char="•"/>
            </a:pP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Logisim build: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Input Pins for A, B, M; XOR gates on the B path; an Adder or full-adder chain; LEDs/Probes for result and carry.</a:t>
            </a:r>
            <a:endParaRPr lang="en-US" sz="1700" dirty="0"/>
          </a:p>
          <a:p>
            <a:pPr marL="345440" indent="-345440" algn="l">
              <a:lnSpc>
                <a:spcPct val="116000"/>
              </a:lnSpc>
              <a:buSzPct val="100000"/>
              <a:buChar char="•"/>
            </a:pP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Expected checks: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toggle M and inputs; confirm the LEDs match the truth tables.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8334" y="6129774"/>
            <a:ext cx="6675072" cy="6131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25" dirty="0">
                <a:solidFill>
                  <a:srgbClr val="17324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Logisim-evolution is educational software for designing and simulating digital logic circuits; its arithmetic library includes both Adder and Subtractor components.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9042174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LOGISIM WORKFLOW · VERIFICATION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8432589" cy="9548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4000" kern="0" spc="-100" dirty="0">
                <a:solidFill>
                  <a:srgbClr val="1760C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SIMULATION MAKES THE LOGIC VISIBLE AND TESTABLE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1966119"/>
            <a:ext cx="2782619" cy="38100"/>
          </a:xfrm>
          <a:prstGeom prst="roundRect">
            <a:avLst>
              <a:gd name="adj" fmla="val 49999"/>
            </a:avLst>
          </a:prstGeom>
          <a:solidFill>
            <a:srgbClr val="1760C6"/>
          </a:solidFill>
        </p:spPr>
      </p:sp>
      <p:sp>
        <p:nvSpPr>
          <p:cNvPr id="5" name="Text 3"/>
          <p:cNvSpPr/>
          <p:nvPr/>
        </p:nvSpPr>
        <p:spPr>
          <a:xfrm>
            <a:off x="457189" y="2261394"/>
            <a:ext cx="8432589" cy="16825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Open a new circuit; place input components, gates or arithmetic blocks, and output probes/LEDs.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Wire inputs to outputs; label </a:t>
            </a: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A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, </a:t>
            </a: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B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, </a:t>
            </a: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, </a:t>
            </a: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S/D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, and carry/borrow.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Use the Poke tool to toggle inputs and observe each 0/1 signal in real time.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Record cases: </a:t>
            </a: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0 + 0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, </a:t>
            </a: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 + 1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, </a:t>
            </a:r>
            <a:r>
              <a:rPr lang="en-US" sz="170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0 − 1</a:t>
            </a:r>
            <a:r>
              <a:rPr lang="en-US" sz="170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, and a mode change: add to subtract.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189" y="4147145"/>
            <a:ext cx="3251119" cy="206196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685783" y="4375745"/>
            <a:ext cx="3403515" cy="1825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103" dirty="0">
                <a:solidFill>
                  <a:srgbClr val="17324D"/>
                </a:solidFill>
                <a:latin typeface="IBM Plex Mono SemiBold" panose="020B0709050203000203" pitchFamily="34" charset="0"/>
                <a:ea typeface="IBM Plex Mono SemiBold" panose="020B0709050203000203" pitchFamily="34" charset="-122"/>
                <a:cs typeface="IBM Plex Mono SemiBold" panose="020B0709050203000203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783" y="4691658"/>
            <a:ext cx="2793930" cy="12888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17324D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Conclusion:</a:t>
            </a:r>
            <a:r>
              <a:rPr lang="en-US" sz="1450" dirty="0">
                <a:solidFill>
                  <a:srgbClr val="17324D"/>
                </a:solidFill>
                <a:latin typeface="Nunito Sans Medium" pitchFamily="34" charset="0"/>
                <a:ea typeface="Nunito Sans Medium" pitchFamily="34" charset="-122"/>
                <a:cs typeface="Nunito Sans Medium" pitchFamily="34" charset="-120"/>
              </a:rPr>
              <a:t> the design is correct when the observed Sum/Difference and carry/borrow outputs agree with the equations and truth tables.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013000" y="4375745"/>
            <a:ext cx="4876777" cy="10318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25" dirty="0">
                <a:solidFill>
                  <a:srgbClr val="17324D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Logisim’s documented workflow is to place inputs, add a gate, connect wires, add a Probe or Lamp, and toggle inputs to observe the result. The library also provides Pin, Probe, Wiring Tool, gates, Adder, and Subtractor components.</a:t>
            </a:r>
            <a:endParaRPr lang="en-US" sz="12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6966" y="0"/>
            <a:ext cx="2844729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79*345"/>
  <p:tag name="TABLE_ENDDRAG_RECT" val="36*153*379*345"/>
</p:tagLst>
</file>

<file path=ppt/tags/tag2.xml><?xml version="1.0" encoding="utf-8"?>
<p:tagLst xmlns:p="http://schemas.openxmlformats.org/presentationml/2006/main">
  <p:tag name="TABLE_ENDDRAG_ORIGIN_RECT" val="491*352"/>
  <p:tag name="TABLE_ENDDRAG_RECT" val="470*184*491*35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3167</Words>
  <Application>WPS Presentation</Application>
  <PresentationFormat>On-screen Show (16:9)</PresentationFormat>
  <Paragraphs>291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41" baseType="lpstr">
      <vt:lpstr>Arial</vt:lpstr>
      <vt:lpstr>SimSun</vt:lpstr>
      <vt:lpstr>Wingdings</vt:lpstr>
      <vt:lpstr>IBM Plex Mono SemiBold</vt:lpstr>
      <vt:lpstr>IBM Plex Mono SemiBold</vt:lpstr>
      <vt:lpstr>IBM Plex Mono SemiBold</vt:lpstr>
      <vt:lpstr>Sora ExtraBold</vt:lpstr>
      <vt:lpstr>Sora ExtraBold</vt:lpstr>
      <vt:lpstr>Sora ExtraBold</vt:lpstr>
      <vt:lpstr>Nunito Sans Medium</vt:lpstr>
      <vt:lpstr>Nunito Sans Medium</vt:lpstr>
      <vt:lpstr>Nunito Sans Medium</vt:lpstr>
      <vt:lpstr>Nunito Sans SemiBold</vt:lpstr>
      <vt:lpstr>Segoe Print</vt:lpstr>
      <vt:lpstr>Nunito Sans SemiBold</vt:lpstr>
      <vt:lpstr>Nunito Sans SemiBold</vt:lpstr>
      <vt:lpstr>Nunito Sans Bold</vt:lpstr>
      <vt:lpstr>Nunito Sans Bold</vt:lpstr>
      <vt:lpstr>Nunito Sans Bold</vt:lpstr>
      <vt:lpstr>Nunito Sans</vt:lpstr>
      <vt:lpstr>Nunito Sans</vt:lpstr>
      <vt:lpstr>Nunito Sans</vt:lpstr>
      <vt:lpstr>IBM Plex Mono Medium</vt:lpstr>
      <vt:lpstr>IBM Plex Mono Medium</vt:lpstr>
      <vt:lpstr>IBM Plex Mono Medium</vt:lpstr>
      <vt:lpstr>IBM Plex Mono Bold</vt:lpstr>
      <vt:lpstr>IBM Plex Mono Bold</vt:lpstr>
      <vt:lpstr>IBM Plex Mono Bold</vt:lpstr>
      <vt:lpstr>Calibri</vt:lpstr>
      <vt:lpstr>Microsoft YaHei</vt:lpstr>
      <vt:lpstr>Arial Unicode MS</vt:lpstr>
      <vt:lpstr>MingLiU-ExtB</vt:lpstr>
      <vt:lpstr>Calibri Light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santo</cp:lastModifiedBy>
  <cp:revision>3</cp:revision>
  <dcterms:created xsi:type="dcterms:W3CDTF">2026-09-03T03:56:00Z</dcterms:created>
  <dcterms:modified xsi:type="dcterms:W3CDTF">2026-09-10T04:03:08Z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B277D2A27FF143E0BBCA0CECD3F9B837_12</vt:lpwstr>
  </property>
  <property fmtid="{D5CDD505-2E9C-101B-9397-08002B2CF9AE}" pid="3" name="KSOProductBuildVer">
    <vt:lpwstr>2057-12.2.0.23206</vt:lpwstr>
  </property>
</Properties>
</file>